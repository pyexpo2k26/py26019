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9753600" cy="7315200"/>
  <p:notesSz cx="6858000" cy="9144000"/>
  <p:embeddedFontLst>
    <p:embeddedFont>
      <p:font typeface="Canva Sans Bold" charset="1" panose="020B0803030501040103"/>
      <p:regular r:id="rId11"/>
    </p:embeddedFont>
    <p:embeddedFont>
      <p:font typeface="Canva Sans" charset="1" panose="020B0503030501040103"/>
      <p:regular r:id="rId12"/>
    </p:embeddedFont>
    <p:embeddedFont>
      <p:font typeface="MediaPro Heavy Condensed" charset="1" panose="00000800000000000000"/>
      <p:regular r:id="rId13"/>
    </p:embeddedFont>
    <p:embeddedFont>
      <p:font typeface="Times New Roman Bold" charset="1" panose="02020803070505020304"/>
      <p:regular r:id="rId14"/>
    </p:embeddedFont>
    <p:embeddedFont>
      <p:font typeface="Arimo Bold" charset="1" panose="020B0704020202020204"/>
      <p:regular r:id="rId15"/>
    </p:embeddedFont>
    <p:embeddedFont>
      <p:font typeface="Times New Roman" charset="1" panose="02020603050405020304"/>
      <p:regular r:id="rId16"/>
    </p:embeddedFont>
    <p:embeddedFont>
      <p:font typeface="Arimo" charset="1" panose="020B0604020202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2" Target="../media/image1.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0602" y="2322452"/>
            <a:ext cx="3012405" cy="2670286"/>
            <a:chOff x="0" y="0"/>
            <a:chExt cx="4016540" cy="3560382"/>
          </a:xfrm>
        </p:grpSpPr>
        <p:sp>
          <p:nvSpPr>
            <p:cNvPr name="Freeform 3" id="3"/>
            <p:cNvSpPr/>
            <p:nvPr/>
          </p:nvSpPr>
          <p:spPr>
            <a:xfrm flipH="false" flipV="false" rot="0">
              <a:off x="0" y="0"/>
              <a:ext cx="4016502" cy="3560445"/>
            </a:xfrm>
            <a:custGeom>
              <a:avLst/>
              <a:gdLst/>
              <a:ahLst/>
              <a:cxnLst/>
              <a:rect r="r" b="b" t="t" l="l"/>
              <a:pathLst>
                <a:path h="3560445" w="4016502">
                  <a:moveTo>
                    <a:pt x="0" y="0"/>
                  </a:moveTo>
                  <a:lnTo>
                    <a:pt x="4016502" y="0"/>
                  </a:lnTo>
                  <a:lnTo>
                    <a:pt x="4016502" y="3560445"/>
                  </a:lnTo>
                  <a:lnTo>
                    <a:pt x="0" y="3560445"/>
                  </a:lnTo>
                  <a:lnTo>
                    <a:pt x="0" y="0"/>
                  </a:lnTo>
                  <a:close/>
                </a:path>
              </a:pathLst>
            </a:custGeom>
            <a:blipFill>
              <a:blip r:embed="rId2">
                <a:alphaModFix amt="12000"/>
              </a:blip>
              <a:stretch>
                <a:fillRect l="0" t="-31" r="0" b="-28"/>
              </a:stretch>
            </a:blipFill>
          </p:spPr>
        </p:sp>
      </p:grpSp>
      <p:sp>
        <p:nvSpPr>
          <p:cNvPr name="Freeform 4" id="4"/>
          <p:cNvSpPr/>
          <p:nvPr/>
        </p:nvSpPr>
        <p:spPr>
          <a:xfrm flipH="false" flipV="false" rot="0">
            <a:off x="8465944" y="-49949"/>
            <a:ext cx="1287656" cy="1470822"/>
          </a:xfrm>
          <a:custGeom>
            <a:avLst/>
            <a:gdLst/>
            <a:ahLst/>
            <a:cxnLst/>
            <a:rect r="r" b="b" t="t" l="l"/>
            <a:pathLst>
              <a:path h="1470822" w="1287656">
                <a:moveTo>
                  <a:pt x="0" y="0"/>
                </a:moveTo>
                <a:lnTo>
                  <a:pt x="1287656" y="0"/>
                </a:lnTo>
                <a:lnTo>
                  <a:pt x="1287656" y="1470822"/>
                </a:lnTo>
                <a:lnTo>
                  <a:pt x="0" y="14708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8628050" y="153267"/>
            <a:ext cx="922401" cy="913209"/>
            <a:chOff x="0" y="0"/>
            <a:chExt cx="1229868" cy="1217612"/>
          </a:xfrm>
        </p:grpSpPr>
        <p:sp>
          <p:nvSpPr>
            <p:cNvPr name="Freeform 6" id="6"/>
            <p:cNvSpPr/>
            <p:nvPr/>
          </p:nvSpPr>
          <p:spPr>
            <a:xfrm flipH="false" flipV="false" rot="0">
              <a:off x="0" y="0"/>
              <a:ext cx="1229868" cy="1217676"/>
            </a:xfrm>
            <a:custGeom>
              <a:avLst/>
              <a:gdLst/>
              <a:ahLst/>
              <a:cxnLst/>
              <a:rect r="r" b="b" t="t" l="l"/>
              <a:pathLst>
                <a:path h="1217676" w="1229868">
                  <a:moveTo>
                    <a:pt x="0" y="0"/>
                  </a:moveTo>
                  <a:lnTo>
                    <a:pt x="1229868" y="0"/>
                  </a:lnTo>
                  <a:lnTo>
                    <a:pt x="1229868" y="1217676"/>
                  </a:lnTo>
                  <a:lnTo>
                    <a:pt x="0" y="1217676"/>
                  </a:lnTo>
                  <a:lnTo>
                    <a:pt x="0" y="0"/>
                  </a:lnTo>
                  <a:close/>
                </a:path>
              </a:pathLst>
            </a:custGeom>
            <a:blipFill>
              <a:blip r:embed="rId5"/>
              <a:stretch>
                <a:fillRect l="0" t="-168" r="0" b="-163"/>
              </a:stretch>
            </a:blipFill>
          </p:spPr>
        </p:sp>
      </p:grpSp>
      <p:sp>
        <p:nvSpPr>
          <p:cNvPr name="TextBox 7" id="7"/>
          <p:cNvSpPr txBox="true"/>
          <p:nvPr/>
        </p:nvSpPr>
        <p:spPr>
          <a:xfrm rot="0">
            <a:off x="266619" y="1277798"/>
            <a:ext cx="9220362" cy="5305882"/>
          </a:xfrm>
          <a:prstGeom prst="rect">
            <a:avLst/>
          </a:prstGeom>
        </p:spPr>
        <p:txBody>
          <a:bodyPr anchor="t" rtlCol="false" tIns="0" lIns="0" bIns="0" rIns="0">
            <a:spAutoFit/>
          </a:bodyPr>
          <a:lstStyle/>
          <a:p>
            <a:pPr algn="l">
              <a:lnSpc>
                <a:spcPts val="4701"/>
              </a:lnSpc>
            </a:pPr>
            <a:r>
              <a:rPr lang="en-US" sz="3358" b="true">
                <a:solidFill>
                  <a:srgbClr val="000000"/>
                </a:solidFill>
                <a:latin typeface="Canva Sans Bold"/>
                <a:ea typeface="Canva Sans Bold"/>
                <a:cs typeface="Canva Sans Bold"/>
                <a:sym typeface="Canva Sans Bold"/>
              </a:rPr>
              <a:t>Team Name</a:t>
            </a:r>
            <a:r>
              <a:rPr lang="en-US" sz="3358">
                <a:solidFill>
                  <a:srgbClr val="000000"/>
                </a:solidFill>
                <a:latin typeface="Canva Sans"/>
                <a:ea typeface="Canva Sans"/>
                <a:cs typeface="Canva Sans"/>
                <a:sym typeface="Canva Sans"/>
              </a:rPr>
              <a:t> - PYTHON SCRIPTERS</a:t>
            </a:r>
          </a:p>
          <a:p>
            <a:pPr algn="l">
              <a:lnSpc>
                <a:spcPts val="4701"/>
              </a:lnSpc>
            </a:pPr>
            <a:r>
              <a:rPr lang="en-US" sz="3358" b="true">
                <a:solidFill>
                  <a:srgbClr val="000000"/>
                </a:solidFill>
                <a:latin typeface="Canva Sans Bold"/>
                <a:ea typeface="Canva Sans Bold"/>
                <a:cs typeface="Canva Sans Bold"/>
                <a:sym typeface="Canva Sans Bold"/>
              </a:rPr>
              <a:t>Problem Statement ID </a:t>
            </a:r>
            <a:r>
              <a:rPr lang="en-US" sz="3358">
                <a:solidFill>
                  <a:srgbClr val="000000"/>
                </a:solidFill>
                <a:latin typeface="Canva Sans"/>
                <a:ea typeface="Canva Sans"/>
                <a:cs typeface="Canva Sans"/>
                <a:sym typeface="Canva Sans"/>
              </a:rPr>
              <a:t>- PY019</a:t>
            </a:r>
          </a:p>
          <a:p>
            <a:pPr algn="l">
              <a:lnSpc>
                <a:spcPts val="4701"/>
              </a:lnSpc>
            </a:pPr>
            <a:r>
              <a:rPr lang="en-US" sz="3358" b="true">
                <a:solidFill>
                  <a:srgbClr val="000000"/>
                </a:solidFill>
                <a:latin typeface="Canva Sans Bold"/>
                <a:ea typeface="Canva Sans Bold"/>
                <a:cs typeface="Canva Sans Bold"/>
                <a:sym typeface="Canva Sans Bold"/>
              </a:rPr>
              <a:t>Problem Statement Title</a:t>
            </a:r>
            <a:r>
              <a:rPr lang="en-US" sz="3358">
                <a:solidFill>
                  <a:srgbClr val="000000"/>
                </a:solidFill>
                <a:latin typeface="Canva Sans"/>
                <a:ea typeface="Canva Sans"/>
                <a:cs typeface="Canva Sans"/>
                <a:sym typeface="Canva Sans"/>
              </a:rPr>
              <a:t>- FLOOD PREDICTION AND ALERT SYSTEM</a:t>
            </a:r>
          </a:p>
          <a:p>
            <a:pPr algn="l">
              <a:lnSpc>
                <a:spcPts val="4701"/>
              </a:lnSpc>
            </a:pPr>
            <a:r>
              <a:rPr lang="en-US" sz="3358" b="true">
                <a:solidFill>
                  <a:srgbClr val="000000"/>
                </a:solidFill>
                <a:latin typeface="Canva Sans Bold"/>
                <a:ea typeface="Canva Sans Bold"/>
                <a:cs typeface="Canva Sans Bold"/>
                <a:sym typeface="Canva Sans Bold"/>
              </a:rPr>
              <a:t>Domain</a:t>
            </a:r>
            <a:r>
              <a:rPr lang="en-US" sz="3358">
                <a:solidFill>
                  <a:srgbClr val="000000"/>
                </a:solidFill>
                <a:latin typeface="Canva Sans"/>
                <a:ea typeface="Canva Sans"/>
                <a:cs typeface="Canva Sans"/>
                <a:sym typeface="Canva Sans"/>
              </a:rPr>
              <a:t>- Web development </a:t>
            </a:r>
          </a:p>
          <a:p>
            <a:pPr algn="l">
              <a:lnSpc>
                <a:spcPts val="4701"/>
              </a:lnSpc>
            </a:pPr>
            <a:r>
              <a:rPr lang="en-US" sz="3358" b="true">
                <a:solidFill>
                  <a:srgbClr val="000000"/>
                </a:solidFill>
                <a:latin typeface="Canva Sans Bold"/>
                <a:ea typeface="Canva Sans Bold"/>
                <a:cs typeface="Canva Sans Bold"/>
                <a:sym typeface="Canva Sans Bold"/>
              </a:rPr>
              <a:t>PS Category</a:t>
            </a:r>
            <a:r>
              <a:rPr lang="en-US" sz="3358">
                <a:solidFill>
                  <a:srgbClr val="000000"/>
                </a:solidFill>
                <a:latin typeface="Canva Sans"/>
                <a:ea typeface="Canva Sans"/>
                <a:cs typeface="Canva Sans"/>
                <a:sym typeface="Canva Sans"/>
              </a:rPr>
              <a:t>- Software</a:t>
            </a:r>
          </a:p>
          <a:p>
            <a:pPr algn="l">
              <a:lnSpc>
                <a:spcPts val="4701"/>
              </a:lnSpc>
            </a:pPr>
            <a:r>
              <a:rPr lang="en-US" sz="3358" b="true">
                <a:solidFill>
                  <a:srgbClr val="000000"/>
                </a:solidFill>
                <a:latin typeface="Canva Sans Bold"/>
                <a:ea typeface="Canva Sans Bold"/>
                <a:cs typeface="Canva Sans Bold"/>
                <a:sym typeface="Canva Sans Bold"/>
              </a:rPr>
              <a:t>Industry Mentor -</a:t>
            </a:r>
            <a:r>
              <a:rPr lang="en-US" sz="3358">
                <a:solidFill>
                  <a:srgbClr val="000000"/>
                </a:solidFill>
                <a:latin typeface="Canva Sans"/>
                <a:ea typeface="Canva Sans"/>
                <a:cs typeface="Canva Sans"/>
                <a:sym typeface="Canva Sans"/>
              </a:rPr>
              <a:t>Sarveswaran </a:t>
            </a:r>
          </a:p>
          <a:p>
            <a:pPr algn="l">
              <a:lnSpc>
                <a:spcPts val="4701"/>
              </a:lnSpc>
            </a:pPr>
            <a:r>
              <a:rPr lang="en-US" sz="3358" b="true">
                <a:solidFill>
                  <a:srgbClr val="000000"/>
                </a:solidFill>
                <a:latin typeface="Canva Sans Bold"/>
                <a:ea typeface="Canva Sans Bold"/>
                <a:cs typeface="Canva Sans Bold"/>
                <a:sym typeface="Canva Sans Bold"/>
              </a:rPr>
              <a:t>Student Mentor -</a:t>
            </a:r>
            <a:r>
              <a:rPr lang="en-US" sz="3358">
                <a:solidFill>
                  <a:srgbClr val="000000"/>
                </a:solidFill>
                <a:latin typeface="Canva Sans"/>
                <a:ea typeface="Canva Sans"/>
                <a:cs typeface="Canva Sans"/>
                <a:sym typeface="Canva Sans"/>
              </a:rPr>
              <a:t>Boomathi</a:t>
            </a:r>
          </a:p>
          <a:p>
            <a:pPr algn="ctr">
              <a:lnSpc>
                <a:spcPts val="4701"/>
              </a:lnSpc>
            </a:pPr>
          </a:p>
        </p:txBody>
      </p:sp>
      <p:grpSp>
        <p:nvGrpSpPr>
          <p:cNvPr name="Group 8" id="8"/>
          <p:cNvGrpSpPr/>
          <p:nvPr/>
        </p:nvGrpSpPr>
        <p:grpSpPr>
          <a:xfrm rot="0">
            <a:off x="0" y="0"/>
            <a:ext cx="1066476" cy="1066476"/>
            <a:chOff x="0" y="0"/>
            <a:chExt cx="1421968" cy="1421968"/>
          </a:xfrm>
        </p:grpSpPr>
        <p:sp>
          <p:nvSpPr>
            <p:cNvPr name="Freeform 9" id="9"/>
            <p:cNvSpPr/>
            <p:nvPr/>
          </p:nvSpPr>
          <p:spPr>
            <a:xfrm flipH="false" flipV="false" rot="0">
              <a:off x="0" y="0"/>
              <a:ext cx="1422019" cy="1422019"/>
            </a:xfrm>
            <a:custGeom>
              <a:avLst/>
              <a:gdLst/>
              <a:ahLst/>
              <a:cxnLst/>
              <a:rect r="r" b="b" t="t" l="l"/>
              <a:pathLst>
                <a:path h="1422019" w="1422019">
                  <a:moveTo>
                    <a:pt x="0" y="0"/>
                  </a:moveTo>
                  <a:lnTo>
                    <a:pt x="1422019" y="0"/>
                  </a:lnTo>
                  <a:lnTo>
                    <a:pt x="1422019" y="1422019"/>
                  </a:lnTo>
                  <a:lnTo>
                    <a:pt x="0" y="1422019"/>
                  </a:lnTo>
                  <a:lnTo>
                    <a:pt x="0" y="0"/>
                  </a:lnTo>
                  <a:close/>
                </a:path>
              </a:pathLst>
            </a:custGeom>
            <a:blipFill>
              <a:blip r:embed="rId6"/>
              <a:stretch>
                <a:fillRect l="0" t="0" r="3" b="3"/>
              </a:stretch>
            </a:blipFill>
          </p:spPr>
        </p:sp>
      </p:grpSp>
      <p:sp>
        <p:nvSpPr>
          <p:cNvPr name="Freeform 10" id="10"/>
          <p:cNvSpPr/>
          <p:nvPr/>
        </p:nvSpPr>
        <p:spPr>
          <a:xfrm flipH="false" flipV="false" rot="0">
            <a:off x="-1035272" y="6809213"/>
            <a:ext cx="11296279" cy="505987"/>
          </a:xfrm>
          <a:custGeom>
            <a:avLst/>
            <a:gdLst/>
            <a:ahLst/>
            <a:cxnLst/>
            <a:rect r="r" b="b" t="t" l="l"/>
            <a:pathLst>
              <a:path h="505987" w="11296279">
                <a:moveTo>
                  <a:pt x="0" y="0"/>
                </a:moveTo>
                <a:lnTo>
                  <a:pt x="11296278" y="0"/>
                </a:lnTo>
                <a:lnTo>
                  <a:pt x="11296278" y="505987"/>
                </a:lnTo>
                <a:lnTo>
                  <a:pt x="0" y="5059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447419" y="99203"/>
            <a:ext cx="6637592" cy="1036034"/>
          </a:xfrm>
          <a:prstGeom prst="rect">
            <a:avLst/>
          </a:prstGeom>
        </p:spPr>
        <p:txBody>
          <a:bodyPr anchor="t" rtlCol="false" tIns="0" lIns="0" bIns="0" rIns="0">
            <a:spAutoFit/>
          </a:bodyPr>
          <a:lstStyle/>
          <a:p>
            <a:pPr algn="ctr">
              <a:lnSpc>
                <a:spcPts val="7470"/>
              </a:lnSpc>
            </a:pPr>
            <a:r>
              <a:rPr lang="en-US" sz="5336">
                <a:gradFill>
                  <a:gsLst>
                    <a:gs pos="0">
                      <a:srgbClr val="000000">
                        <a:alpha val="100000"/>
                      </a:srgbClr>
                    </a:gs>
                    <a:gs pos="100000">
                      <a:srgbClr val="3533CD">
                        <a:alpha val="100000"/>
                      </a:srgbClr>
                    </a:gs>
                  </a:gsLst>
                  <a:lin ang="5400000"/>
                </a:gradFill>
                <a:latin typeface="MediaPro Heavy Condensed"/>
                <a:ea typeface="MediaPro Heavy Condensed"/>
                <a:cs typeface="MediaPro Heavy Condensed"/>
                <a:sym typeface="MediaPro Heavy Condensed"/>
              </a:rPr>
              <a:t>PY-EXPO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066476" cy="1066476"/>
            <a:chOff x="0" y="0"/>
            <a:chExt cx="1421968" cy="1421968"/>
          </a:xfrm>
        </p:grpSpPr>
        <p:sp>
          <p:nvSpPr>
            <p:cNvPr name="Freeform 3" id="3"/>
            <p:cNvSpPr/>
            <p:nvPr/>
          </p:nvSpPr>
          <p:spPr>
            <a:xfrm flipH="false" flipV="false" rot="0">
              <a:off x="0" y="0"/>
              <a:ext cx="1422019" cy="1422019"/>
            </a:xfrm>
            <a:custGeom>
              <a:avLst/>
              <a:gdLst/>
              <a:ahLst/>
              <a:cxnLst/>
              <a:rect r="r" b="b" t="t" l="l"/>
              <a:pathLst>
                <a:path h="1422019" w="1422019">
                  <a:moveTo>
                    <a:pt x="0" y="0"/>
                  </a:moveTo>
                  <a:lnTo>
                    <a:pt x="1422019" y="0"/>
                  </a:lnTo>
                  <a:lnTo>
                    <a:pt x="1422019" y="1422019"/>
                  </a:lnTo>
                  <a:lnTo>
                    <a:pt x="0" y="1422019"/>
                  </a:lnTo>
                  <a:lnTo>
                    <a:pt x="0" y="0"/>
                  </a:lnTo>
                  <a:close/>
                </a:path>
              </a:pathLst>
            </a:custGeom>
            <a:blipFill>
              <a:blip r:embed="rId2"/>
              <a:stretch>
                <a:fillRect l="0" t="0" r="3" b="3"/>
              </a:stretch>
            </a:blipFill>
          </p:spPr>
        </p:sp>
      </p:grpSp>
      <p:sp>
        <p:nvSpPr>
          <p:cNvPr name="Freeform 4" id="4"/>
          <p:cNvSpPr/>
          <p:nvPr/>
        </p:nvSpPr>
        <p:spPr>
          <a:xfrm flipH="false" flipV="false" rot="0">
            <a:off x="8465944" y="-66599"/>
            <a:ext cx="1287656" cy="1487472"/>
          </a:xfrm>
          <a:custGeom>
            <a:avLst/>
            <a:gdLst/>
            <a:ahLst/>
            <a:cxnLst/>
            <a:rect r="r" b="b" t="t" l="l"/>
            <a:pathLst>
              <a:path h="1487472" w="1287656">
                <a:moveTo>
                  <a:pt x="0" y="0"/>
                </a:moveTo>
                <a:lnTo>
                  <a:pt x="1287656" y="0"/>
                </a:lnTo>
                <a:lnTo>
                  <a:pt x="1287656" y="1487472"/>
                </a:lnTo>
                <a:lnTo>
                  <a:pt x="0" y="14874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8628050" y="153267"/>
            <a:ext cx="922401" cy="913209"/>
            <a:chOff x="0" y="0"/>
            <a:chExt cx="1229868" cy="1217612"/>
          </a:xfrm>
        </p:grpSpPr>
        <p:sp>
          <p:nvSpPr>
            <p:cNvPr name="Freeform 6" id="6"/>
            <p:cNvSpPr/>
            <p:nvPr/>
          </p:nvSpPr>
          <p:spPr>
            <a:xfrm flipH="false" flipV="false" rot="0">
              <a:off x="0" y="0"/>
              <a:ext cx="1229868" cy="1217676"/>
            </a:xfrm>
            <a:custGeom>
              <a:avLst/>
              <a:gdLst/>
              <a:ahLst/>
              <a:cxnLst/>
              <a:rect r="r" b="b" t="t" l="l"/>
              <a:pathLst>
                <a:path h="1217676" w="1229868">
                  <a:moveTo>
                    <a:pt x="0" y="0"/>
                  </a:moveTo>
                  <a:lnTo>
                    <a:pt x="1229868" y="0"/>
                  </a:lnTo>
                  <a:lnTo>
                    <a:pt x="1229868" y="1217676"/>
                  </a:lnTo>
                  <a:lnTo>
                    <a:pt x="0" y="1217676"/>
                  </a:lnTo>
                  <a:lnTo>
                    <a:pt x="0" y="0"/>
                  </a:lnTo>
                  <a:close/>
                </a:path>
              </a:pathLst>
            </a:custGeom>
            <a:blipFill>
              <a:blip r:embed="rId5"/>
              <a:stretch>
                <a:fillRect l="0" t="-168" r="0" b="-163"/>
              </a:stretch>
            </a:blipFill>
          </p:spPr>
        </p:sp>
      </p:grpSp>
      <p:sp>
        <p:nvSpPr>
          <p:cNvPr name="Freeform 7" id="7"/>
          <p:cNvSpPr/>
          <p:nvPr/>
        </p:nvSpPr>
        <p:spPr>
          <a:xfrm flipH="false" flipV="false" rot="0">
            <a:off x="-1035272" y="6782638"/>
            <a:ext cx="11296279" cy="532562"/>
          </a:xfrm>
          <a:custGeom>
            <a:avLst/>
            <a:gdLst/>
            <a:ahLst/>
            <a:cxnLst/>
            <a:rect r="r" b="b" t="t" l="l"/>
            <a:pathLst>
              <a:path h="532562" w="11296279">
                <a:moveTo>
                  <a:pt x="0" y="0"/>
                </a:moveTo>
                <a:lnTo>
                  <a:pt x="11296278" y="0"/>
                </a:lnTo>
                <a:lnTo>
                  <a:pt x="11296278" y="532562"/>
                </a:lnTo>
                <a:lnTo>
                  <a:pt x="0" y="5325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8" id="8"/>
          <p:cNvGraphicFramePr>
            <a:graphicFrameLocks noGrp="true"/>
          </p:cNvGraphicFramePr>
          <p:nvPr/>
        </p:nvGraphicFramePr>
        <p:xfrm>
          <a:off x="893624" y="1452897"/>
          <a:ext cx="7652502" cy="5143500"/>
        </p:xfrm>
        <a:graphic>
          <a:graphicData uri="http://schemas.openxmlformats.org/drawingml/2006/table">
            <a:tbl>
              <a:tblPr/>
              <a:tblGrid>
                <a:gridCol w="683192"/>
                <a:gridCol w="2563077"/>
                <a:gridCol w="1398505"/>
                <a:gridCol w="1287502"/>
                <a:gridCol w="1720226"/>
              </a:tblGrid>
              <a:tr h="584271">
                <a:tc>
                  <a:txBody>
                    <a:bodyPr anchor="t" rtlCol="false"/>
                    <a:lstStyle/>
                    <a:p>
                      <a:pPr algn="ctr">
                        <a:lnSpc>
                          <a:spcPts val="1679"/>
                        </a:lnSpc>
                        <a:defRPr/>
                      </a:pPr>
                      <a:r>
                        <a:rPr lang="en-US" sz="1200" b="true">
                          <a:solidFill>
                            <a:srgbClr val="000000"/>
                          </a:solidFill>
                          <a:latin typeface="Times New Roman Bold"/>
                          <a:ea typeface="Times New Roman Bold"/>
                          <a:cs typeface="Times New Roman Bold"/>
                          <a:sym typeface="Times New Roman Bold"/>
                        </a:rPr>
                        <a:t>S.No.</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Times New Roman Bold"/>
                          <a:ea typeface="Times New Roman Bold"/>
                          <a:cs typeface="Times New Roman Bold"/>
                          <a:sym typeface="Times New Roman Bold"/>
                        </a:rPr>
                        <a:t>DEPARTMENT</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Times New Roman Bold"/>
                          <a:ea typeface="Times New Roman Bold"/>
                          <a:cs typeface="Times New Roman Bold"/>
                          <a:sym typeface="Times New Roman Bold"/>
                        </a:rPr>
                        <a:t>ROLL NO</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Times New Roman Bold"/>
                          <a:ea typeface="Times New Roman Bold"/>
                          <a:cs typeface="Times New Roman Bold"/>
                          <a:sym typeface="Times New Roman Bold"/>
                        </a:rPr>
                        <a:t>Role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rimo Bold"/>
                          <a:ea typeface="Arimo Bold"/>
                          <a:cs typeface="Arimo Bold"/>
                          <a:sym typeface="Arimo Bold"/>
                        </a:rPr>
                        <a:t>NAME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584271">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1</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b="true">
                          <a:solidFill>
                            <a:srgbClr val="000000"/>
                          </a:solidFill>
                          <a:latin typeface="Arimo Bold"/>
                          <a:ea typeface="Arimo Bold"/>
                          <a:cs typeface="Arimo Bold"/>
                          <a:sym typeface="Arimo Bold"/>
                        </a:rPr>
                        <a:t>           B.Tech-AI&amp;DS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25UAD227</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TEAM LEAD</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RAGUL R</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94992">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2</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           </a:t>
                      </a:r>
                      <a:r>
                        <a:rPr lang="en-US" sz="1200" b="true">
                          <a:solidFill>
                            <a:srgbClr val="000000"/>
                          </a:solidFill>
                          <a:latin typeface="Arimo Bold"/>
                          <a:ea typeface="Arimo Bold"/>
                          <a:cs typeface="Arimo Bold"/>
                          <a:sym typeface="Arimo Bold"/>
                        </a:rPr>
                        <a:t>B.Tech-AI&amp;DS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25UAD238</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MODEL DEVELOPER</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SHALINI B</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94992">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3</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b="true">
                          <a:solidFill>
                            <a:srgbClr val="000000"/>
                          </a:solidFill>
                          <a:latin typeface="Arimo Bold"/>
                          <a:ea typeface="Arimo Bold"/>
                          <a:cs typeface="Arimo Bold"/>
                          <a:sym typeface="Arimo Bold"/>
                        </a:rPr>
                        <a:t>           B.Tech-AI&amp;DS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25UAD239</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FRONTEND DEVELOPER</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SHANJEETHA 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94992">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4</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b="true">
                          <a:solidFill>
                            <a:srgbClr val="000000"/>
                          </a:solidFill>
                          <a:latin typeface="Arimo Bold"/>
                          <a:ea typeface="Arimo Bold"/>
                          <a:cs typeface="Arimo Bold"/>
                          <a:sym typeface="Arimo Bold"/>
                        </a:rPr>
                        <a:t>           B.Tech-IT</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25UIT157</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RESEARCH HEAD</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MADHUMITHA M</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94992">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5</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b="true">
                          <a:solidFill>
                            <a:srgbClr val="000000"/>
                          </a:solidFill>
                          <a:latin typeface="Arimo Bold"/>
                          <a:ea typeface="Arimo Bold"/>
                          <a:cs typeface="Arimo Bold"/>
                          <a:sym typeface="Arimo Bold"/>
                        </a:rPr>
                        <a:t>           B.E - MECH</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25UME111</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BACKEND DEVELOPER</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DEEPAN 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94992">
                <a:tc>
                  <a:txBody>
                    <a:bodyPr anchor="t" rtlCol="false"/>
                    <a:lstStyle/>
                    <a:p>
                      <a:pPr algn="ctr">
                        <a:lnSpc>
                          <a:spcPts val="1679"/>
                        </a:lnSpc>
                        <a:defRPr/>
                      </a:pPr>
                      <a:r>
                        <a:rPr lang="en-US" sz="1200">
                          <a:solidFill>
                            <a:srgbClr val="000000"/>
                          </a:solidFill>
                          <a:latin typeface="Times New Roman"/>
                          <a:ea typeface="Times New Roman"/>
                          <a:cs typeface="Times New Roman"/>
                          <a:sym typeface="Times New Roman"/>
                        </a:rPr>
                        <a:t>6</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           </a:t>
                      </a:r>
                      <a:r>
                        <a:rPr lang="en-US" sz="1200" b="true">
                          <a:solidFill>
                            <a:srgbClr val="000000"/>
                          </a:solidFill>
                          <a:latin typeface="Arimo Bold"/>
                          <a:ea typeface="Arimo Bold"/>
                          <a:cs typeface="Arimo Bold"/>
                          <a:sym typeface="Arimo Bold"/>
                        </a:rPr>
                        <a:t>B.E-CSE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25UCS208</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ARCHITECT HEAD</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679"/>
                        </a:lnSpc>
                        <a:defRPr/>
                      </a:pPr>
                      <a:r>
                        <a:rPr lang="en-US" sz="1200">
                          <a:solidFill>
                            <a:srgbClr val="000000"/>
                          </a:solidFill>
                          <a:latin typeface="Arimo"/>
                          <a:ea typeface="Arimo"/>
                          <a:cs typeface="Arimo"/>
                          <a:sym typeface="Arimo"/>
                        </a:rPr>
                        <a:t>PRIYANKA M</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3443945" y="252898"/>
            <a:ext cx="2270874" cy="589693"/>
          </a:xfrm>
          <a:prstGeom prst="rect">
            <a:avLst/>
          </a:prstGeom>
        </p:spPr>
        <p:txBody>
          <a:bodyPr anchor="t" rtlCol="false" tIns="0" lIns="0" bIns="0" rIns="0">
            <a:spAutoFit/>
          </a:bodyPr>
          <a:lstStyle/>
          <a:p>
            <a:pPr algn="ctr">
              <a:lnSpc>
                <a:spcPts val="4247"/>
              </a:lnSpc>
            </a:pPr>
            <a:r>
              <a:rPr lang="en-US" sz="3033">
                <a:solidFill>
                  <a:srgbClr val="000000"/>
                </a:solidFill>
                <a:latin typeface="MediaPro Heavy Condensed"/>
                <a:ea typeface="MediaPro Heavy Condensed"/>
                <a:cs typeface="MediaPro Heavy Condensed"/>
                <a:sym typeface="MediaPro Heavy Condensed"/>
              </a:rPr>
              <a:t>TEAM DETAILS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0602" y="2322452"/>
            <a:ext cx="3012405" cy="2670286"/>
            <a:chOff x="0" y="0"/>
            <a:chExt cx="4016540" cy="3560382"/>
          </a:xfrm>
        </p:grpSpPr>
        <p:sp>
          <p:nvSpPr>
            <p:cNvPr name="Freeform 3" id="3"/>
            <p:cNvSpPr/>
            <p:nvPr/>
          </p:nvSpPr>
          <p:spPr>
            <a:xfrm flipH="false" flipV="false" rot="0">
              <a:off x="0" y="0"/>
              <a:ext cx="4016502" cy="3560445"/>
            </a:xfrm>
            <a:custGeom>
              <a:avLst/>
              <a:gdLst/>
              <a:ahLst/>
              <a:cxnLst/>
              <a:rect r="r" b="b" t="t" l="l"/>
              <a:pathLst>
                <a:path h="3560445" w="4016502">
                  <a:moveTo>
                    <a:pt x="0" y="0"/>
                  </a:moveTo>
                  <a:lnTo>
                    <a:pt x="4016502" y="0"/>
                  </a:lnTo>
                  <a:lnTo>
                    <a:pt x="4016502" y="3560445"/>
                  </a:lnTo>
                  <a:lnTo>
                    <a:pt x="0" y="3560445"/>
                  </a:lnTo>
                  <a:lnTo>
                    <a:pt x="0" y="0"/>
                  </a:lnTo>
                  <a:close/>
                </a:path>
              </a:pathLst>
            </a:custGeom>
            <a:blipFill>
              <a:blip r:embed="rId2">
                <a:alphaModFix amt="12000"/>
              </a:blip>
              <a:stretch>
                <a:fillRect l="0" t="-31" r="0" b="-28"/>
              </a:stretch>
            </a:blipFill>
          </p:spPr>
        </p:sp>
      </p:grpSp>
      <p:sp>
        <p:nvSpPr>
          <p:cNvPr name="TextBox 4" id="4"/>
          <p:cNvSpPr txBox="true"/>
          <p:nvPr/>
        </p:nvSpPr>
        <p:spPr>
          <a:xfrm rot="0">
            <a:off x="3317224" y="247926"/>
            <a:ext cx="3448669" cy="1057275"/>
          </a:xfrm>
          <a:prstGeom prst="rect">
            <a:avLst/>
          </a:prstGeom>
        </p:spPr>
        <p:txBody>
          <a:bodyPr anchor="t" rtlCol="false" tIns="0" lIns="0" bIns="0" rIns="0">
            <a:spAutoFit/>
          </a:bodyPr>
          <a:lstStyle/>
          <a:p>
            <a:pPr algn="ctr">
              <a:lnSpc>
                <a:spcPts val="4200"/>
              </a:lnSpc>
            </a:pPr>
            <a:r>
              <a:rPr lang="en-US" sz="3000">
                <a:solidFill>
                  <a:srgbClr val="000000"/>
                </a:solidFill>
                <a:latin typeface="MediaPro Heavy Condensed"/>
                <a:ea typeface="MediaPro Heavy Condensed"/>
                <a:cs typeface="MediaPro Heavy Condensed"/>
                <a:sym typeface="MediaPro Heavy Condensed"/>
              </a:rPr>
              <a:t>FLOOD PREDICTION AND ALERT SYSTEM</a:t>
            </a:r>
          </a:p>
        </p:txBody>
      </p:sp>
      <p:sp>
        <p:nvSpPr>
          <p:cNvPr name="TextBox 5" id="5"/>
          <p:cNvSpPr txBox="true"/>
          <p:nvPr/>
        </p:nvSpPr>
        <p:spPr>
          <a:xfrm rot="0">
            <a:off x="569481" y="683895"/>
            <a:ext cx="2100624" cy="405470"/>
          </a:xfrm>
          <a:prstGeom prst="rect">
            <a:avLst/>
          </a:prstGeom>
        </p:spPr>
        <p:txBody>
          <a:bodyPr anchor="t" rtlCol="false" tIns="0" lIns="0" bIns="0" rIns="0">
            <a:spAutoFit/>
          </a:bodyPr>
          <a:lstStyle/>
          <a:p>
            <a:pPr algn="ctr">
              <a:lnSpc>
                <a:spcPts val="2850"/>
              </a:lnSpc>
            </a:pPr>
            <a:r>
              <a:rPr lang="en-US" sz="2036" b="true">
                <a:solidFill>
                  <a:srgbClr val="000000"/>
                </a:solidFill>
                <a:latin typeface="Times New Roman Bold"/>
                <a:ea typeface="Times New Roman Bold"/>
                <a:cs typeface="Times New Roman Bold"/>
                <a:sym typeface="Times New Roman Bold"/>
              </a:rPr>
              <a:t>Proposed Solution:</a:t>
            </a:r>
          </a:p>
        </p:txBody>
      </p:sp>
      <p:sp>
        <p:nvSpPr>
          <p:cNvPr name="TextBox 6" id="6"/>
          <p:cNvSpPr txBox="true"/>
          <p:nvPr/>
        </p:nvSpPr>
        <p:spPr>
          <a:xfrm rot="0">
            <a:off x="569481" y="3111551"/>
            <a:ext cx="2701528" cy="405470"/>
          </a:xfrm>
          <a:prstGeom prst="rect">
            <a:avLst/>
          </a:prstGeom>
        </p:spPr>
        <p:txBody>
          <a:bodyPr anchor="t" rtlCol="false" tIns="0" lIns="0" bIns="0" rIns="0">
            <a:spAutoFit/>
          </a:bodyPr>
          <a:lstStyle/>
          <a:p>
            <a:pPr algn="ctr">
              <a:lnSpc>
                <a:spcPts val="2850"/>
              </a:lnSpc>
            </a:pPr>
            <a:r>
              <a:rPr lang="en-US" sz="2036" b="true">
                <a:solidFill>
                  <a:srgbClr val="000000"/>
                </a:solidFill>
                <a:latin typeface="Times New Roman Bold"/>
                <a:ea typeface="Times New Roman Bold"/>
                <a:cs typeface="Times New Roman Bold"/>
                <a:sym typeface="Times New Roman Bold"/>
              </a:rPr>
              <a:t>How the Issue Is Solved:</a:t>
            </a:r>
          </a:p>
        </p:txBody>
      </p:sp>
      <p:sp>
        <p:nvSpPr>
          <p:cNvPr name="TextBox 7" id="7"/>
          <p:cNvSpPr txBox="true"/>
          <p:nvPr/>
        </p:nvSpPr>
        <p:spPr>
          <a:xfrm rot="0">
            <a:off x="706164" y="4897498"/>
            <a:ext cx="2760697" cy="405470"/>
          </a:xfrm>
          <a:prstGeom prst="rect">
            <a:avLst/>
          </a:prstGeom>
        </p:spPr>
        <p:txBody>
          <a:bodyPr anchor="t" rtlCol="false" tIns="0" lIns="0" bIns="0" rIns="0">
            <a:spAutoFit/>
          </a:bodyPr>
          <a:lstStyle/>
          <a:p>
            <a:pPr algn="ctr">
              <a:lnSpc>
                <a:spcPts val="2850"/>
              </a:lnSpc>
            </a:pPr>
            <a:r>
              <a:rPr lang="en-US" sz="2036" b="true">
                <a:solidFill>
                  <a:srgbClr val="000000"/>
                </a:solidFill>
                <a:latin typeface="Times New Roman Bold"/>
                <a:ea typeface="Times New Roman Bold"/>
                <a:cs typeface="Times New Roman Bold"/>
                <a:sym typeface="Times New Roman Bold"/>
              </a:rPr>
              <a:t>Creativity &amp; Feasibility: </a:t>
            </a:r>
          </a:p>
        </p:txBody>
      </p:sp>
      <p:sp>
        <p:nvSpPr>
          <p:cNvPr name="Freeform 8" id="8"/>
          <p:cNvSpPr/>
          <p:nvPr/>
        </p:nvSpPr>
        <p:spPr>
          <a:xfrm flipH="false" flipV="false" rot="0">
            <a:off x="-1035272" y="6782638"/>
            <a:ext cx="11296279" cy="532562"/>
          </a:xfrm>
          <a:custGeom>
            <a:avLst/>
            <a:gdLst/>
            <a:ahLst/>
            <a:cxnLst/>
            <a:rect r="r" b="b" t="t" l="l"/>
            <a:pathLst>
              <a:path h="532562" w="11296279">
                <a:moveTo>
                  <a:pt x="0" y="0"/>
                </a:moveTo>
                <a:lnTo>
                  <a:pt x="11296278" y="0"/>
                </a:lnTo>
                <a:lnTo>
                  <a:pt x="11296278" y="532562"/>
                </a:lnTo>
                <a:lnTo>
                  <a:pt x="0" y="5325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8465944" y="-66599"/>
            <a:ext cx="1287656" cy="1487472"/>
          </a:xfrm>
          <a:custGeom>
            <a:avLst/>
            <a:gdLst/>
            <a:ahLst/>
            <a:cxnLst/>
            <a:rect r="r" b="b" t="t" l="l"/>
            <a:pathLst>
              <a:path h="1487472" w="1287656">
                <a:moveTo>
                  <a:pt x="0" y="0"/>
                </a:moveTo>
                <a:lnTo>
                  <a:pt x="1287656" y="0"/>
                </a:lnTo>
                <a:lnTo>
                  <a:pt x="1287656" y="1487472"/>
                </a:lnTo>
                <a:lnTo>
                  <a:pt x="0" y="14874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8628050" y="153267"/>
            <a:ext cx="922401" cy="913209"/>
            <a:chOff x="0" y="0"/>
            <a:chExt cx="1229868" cy="1217612"/>
          </a:xfrm>
        </p:grpSpPr>
        <p:sp>
          <p:nvSpPr>
            <p:cNvPr name="Freeform 11" id="11"/>
            <p:cNvSpPr/>
            <p:nvPr/>
          </p:nvSpPr>
          <p:spPr>
            <a:xfrm flipH="false" flipV="false" rot="0">
              <a:off x="0" y="0"/>
              <a:ext cx="1229868" cy="1217676"/>
            </a:xfrm>
            <a:custGeom>
              <a:avLst/>
              <a:gdLst/>
              <a:ahLst/>
              <a:cxnLst/>
              <a:rect r="r" b="b" t="t" l="l"/>
              <a:pathLst>
                <a:path h="1217676" w="1229868">
                  <a:moveTo>
                    <a:pt x="0" y="0"/>
                  </a:moveTo>
                  <a:lnTo>
                    <a:pt x="1229868" y="0"/>
                  </a:lnTo>
                  <a:lnTo>
                    <a:pt x="1229868" y="1217676"/>
                  </a:lnTo>
                  <a:lnTo>
                    <a:pt x="0" y="1217676"/>
                  </a:lnTo>
                  <a:lnTo>
                    <a:pt x="0" y="0"/>
                  </a:lnTo>
                  <a:close/>
                </a:path>
              </a:pathLst>
            </a:custGeom>
            <a:blipFill>
              <a:blip r:embed="rId7"/>
              <a:stretch>
                <a:fillRect l="0" t="-168" r="0" b="-163"/>
              </a:stretch>
            </a:blipFill>
          </p:spPr>
        </p:sp>
      </p:grpSp>
      <p:grpSp>
        <p:nvGrpSpPr>
          <p:cNvPr name="Group 12" id="12"/>
          <p:cNvGrpSpPr/>
          <p:nvPr/>
        </p:nvGrpSpPr>
        <p:grpSpPr>
          <a:xfrm rot="0">
            <a:off x="0" y="0"/>
            <a:ext cx="1066476" cy="1066476"/>
            <a:chOff x="0" y="0"/>
            <a:chExt cx="1421968" cy="1421968"/>
          </a:xfrm>
        </p:grpSpPr>
        <p:sp>
          <p:nvSpPr>
            <p:cNvPr name="Freeform 13" id="13"/>
            <p:cNvSpPr/>
            <p:nvPr/>
          </p:nvSpPr>
          <p:spPr>
            <a:xfrm flipH="false" flipV="false" rot="0">
              <a:off x="0" y="0"/>
              <a:ext cx="1422019" cy="1422019"/>
            </a:xfrm>
            <a:custGeom>
              <a:avLst/>
              <a:gdLst/>
              <a:ahLst/>
              <a:cxnLst/>
              <a:rect r="r" b="b" t="t" l="l"/>
              <a:pathLst>
                <a:path h="1422019" w="1422019">
                  <a:moveTo>
                    <a:pt x="0" y="0"/>
                  </a:moveTo>
                  <a:lnTo>
                    <a:pt x="1422019" y="0"/>
                  </a:lnTo>
                  <a:lnTo>
                    <a:pt x="1422019" y="1422019"/>
                  </a:lnTo>
                  <a:lnTo>
                    <a:pt x="0" y="1422019"/>
                  </a:lnTo>
                  <a:lnTo>
                    <a:pt x="0" y="0"/>
                  </a:lnTo>
                  <a:close/>
                </a:path>
              </a:pathLst>
            </a:custGeom>
            <a:blipFill>
              <a:blip r:embed="rId8"/>
              <a:stretch>
                <a:fillRect l="0" t="0" r="3" b="3"/>
              </a:stretch>
            </a:blipFill>
          </p:spPr>
        </p:sp>
      </p:grpSp>
      <p:sp>
        <p:nvSpPr>
          <p:cNvPr name="TextBox 14" id="14"/>
          <p:cNvSpPr txBox="true"/>
          <p:nvPr/>
        </p:nvSpPr>
        <p:spPr>
          <a:xfrm rot="0">
            <a:off x="0" y="1608864"/>
            <a:ext cx="9753600" cy="1305171"/>
          </a:xfrm>
          <a:prstGeom prst="rect">
            <a:avLst/>
          </a:prstGeom>
        </p:spPr>
        <p:txBody>
          <a:bodyPr anchor="t" rtlCol="false" tIns="0" lIns="0" bIns="0" rIns="0">
            <a:spAutoFit/>
          </a:bodyPr>
          <a:lstStyle/>
          <a:p>
            <a:pPr algn="l">
              <a:lnSpc>
                <a:spcPts val="2609"/>
              </a:lnSpc>
              <a:spcBef>
                <a:spcPct val="0"/>
              </a:spcBef>
            </a:pPr>
            <a:r>
              <a:rPr lang="en-US" sz="1864">
                <a:solidFill>
                  <a:srgbClr val="000000"/>
                </a:solidFill>
                <a:latin typeface="Times New Roman"/>
                <a:ea typeface="Times New Roman"/>
                <a:cs typeface="Times New Roman"/>
                <a:sym typeface="Times New Roman"/>
              </a:rPr>
              <a:t>FloodSense AI is a Streamlit-based flood intelligence platform that uses ML, hydrological modelling, and real-time data to predict flood risk (Low / Medium / High / Critical). When a threat is detected, it automatically sends SMS alerts via Twilio to residents and displays safe evacuation routes on a live map.</a:t>
            </a:r>
          </a:p>
        </p:txBody>
      </p:sp>
      <p:sp>
        <p:nvSpPr>
          <p:cNvPr name="TextBox 15" id="15"/>
          <p:cNvSpPr txBox="true"/>
          <p:nvPr/>
        </p:nvSpPr>
        <p:spPr>
          <a:xfrm rot="0">
            <a:off x="0" y="3707521"/>
            <a:ext cx="9753600" cy="926712"/>
          </a:xfrm>
          <a:prstGeom prst="rect">
            <a:avLst/>
          </a:prstGeom>
        </p:spPr>
        <p:txBody>
          <a:bodyPr anchor="t" rtlCol="false" tIns="0" lIns="0" bIns="0" rIns="0">
            <a:spAutoFit/>
          </a:bodyPr>
          <a:lstStyle/>
          <a:p>
            <a:pPr algn="l">
              <a:lnSpc>
                <a:spcPts val="2469"/>
              </a:lnSpc>
              <a:spcBef>
                <a:spcPct val="0"/>
              </a:spcBef>
            </a:pPr>
            <a:r>
              <a:rPr lang="en-US" sz="1764">
                <a:solidFill>
                  <a:srgbClr val="000000"/>
                </a:solidFill>
                <a:latin typeface="Times New Roman"/>
                <a:ea typeface="Times New Roman"/>
                <a:cs typeface="Times New Roman"/>
                <a:sym typeface="Times New Roman"/>
              </a:rPr>
              <a:t>Existing systems warn people only after flooding begins — and give no guidance on where to go. FloodSense AI predicts flood risk hours in advance and responds instantly with Twilio SMS alerts and safe route navigation, turning a passive warning into an actionable, life-saving response.</a:t>
            </a:r>
          </a:p>
        </p:txBody>
      </p:sp>
      <p:sp>
        <p:nvSpPr>
          <p:cNvPr name="TextBox 16" id="16"/>
          <p:cNvSpPr txBox="true"/>
          <p:nvPr/>
        </p:nvSpPr>
        <p:spPr>
          <a:xfrm rot="0">
            <a:off x="0" y="5493468"/>
            <a:ext cx="9753600" cy="1195954"/>
          </a:xfrm>
          <a:prstGeom prst="rect">
            <a:avLst/>
          </a:prstGeom>
        </p:spPr>
        <p:txBody>
          <a:bodyPr anchor="t" rtlCol="false" tIns="0" lIns="0" bIns="0" rIns="0">
            <a:spAutoFit/>
          </a:bodyPr>
          <a:lstStyle/>
          <a:p>
            <a:pPr algn="l">
              <a:lnSpc>
                <a:spcPts val="2329"/>
              </a:lnSpc>
              <a:spcBef>
                <a:spcPct val="0"/>
              </a:spcBef>
            </a:pPr>
            <a:r>
              <a:rPr lang="en-US" sz="1664">
                <a:solidFill>
                  <a:srgbClr val="000000"/>
                </a:solidFill>
                <a:latin typeface="Times New Roman"/>
                <a:ea typeface="Times New Roman"/>
                <a:cs typeface="Times New Roman"/>
                <a:sym typeface="Times New Roman"/>
              </a:rPr>
              <a:t>No existing tool combines flood prediction, Twilio SMS alerting, and safe evacuation routing in one platform. Most systems stop at the warning — we tell you what to do next. Terrain-aware ML using real DEM satellite data makes predictions geographically accurate, and it runs entirely on free, open data sources — deployable anywhere at no data cost.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0602" y="2322452"/>
            <a:ext cx="3012405" cy="2670286"/>
            <a:chOff x="0" y="0"/>
            <a:chExt cx="4016540" cy="3560382"/>
          </a:xfrm>
        </p:grpSpPr>
        <p:sp>
          <p:nvSpPr>
            <p:cNvPr name="Freeform 3" id="3"/>
            <p:cNvSpPr/>
            <p:nvPr/>
          </p:nvSpPr>
          <p:spPr>
            <a:xfrm flipH="false" flipV="false" rot="0">
              <a:off x="0" y="0"/>
              <a:ext cx="4016502" cy="3560445"/>
            </a:xfrm>
            <a:custGeom>
              <a:avLst/>
              <a:gdLst/>
              <a:ahLst/>
              <a:cxnLst/>
              <a:rect r="r" b="b" t="t" l="l"/>
              <a:pathLst>
                <a:path h="3560445" w="4016502">
                  <a:moveTo>
                    <a:pt x="0" y="0"/>
                  </a:moveTo>
                  <a:lnTo>
                    <a:pt x="4016502" y="0"/>
                  </a:lnTo>
                  <a:lnTo>
                    <a:pt x="4016502" y="3560445"/>
                  </a:lnTo>
                  <a:lnTo>
                    <a:pt x="0" y="3560445"/>
                  </a:lnTo>
                  <a:lnTo>
                    <a:pt x="0" y="0"/>
                  </a:lnTo>
                  <a:close/>
                </a:path>
              </a:pathLst>
            </a:custGeom>
            <a:blipFill>
              <a:blip r:embed="rId2">
                <a:alphaModFix amt="12000"/>
              </a:blip>
              <a:stretch>
                <a:fillRect l="0" t="-31" r="0" b="-28"/>
              </a:stretch>
            </a:blipFill>
          </p:spPr>
        </p:sp>
      </p:grpSp>
      <p:sp>
        <p:nvSpPr>
          <p:cNvPr name="TextBox 4" id="4"/>
          <p:cNvSpPr txBox="true"/>
          <p:nvPr/>
        </p:nvSpPr>
        <p:spPr>
          <a:xfrm rot="0">
            <a:off x="1428941" y="248383"/>
            <a:ext cx="6367853" cy="589626"/>
          </a:xfrm>
          <a:prstGeom prst="rect">
            <a:avLst/>
          </a:prstGeom>
        </p:spPr>
        <p:txBody>
          <a:bodyPr anchor="t" rtlCol="false" tIns="0" lIns="0" bIns="0" rIns="0">
            <a:spAutoFit/>
          </a:bodyPr>
          <a:lstStyle/>
          <a:p>
            <a:pPr algn="ctr">
              <a:lnSpc>
                <a:spcPts val="4251"/>
              </a:lnSpc>
            </a:pPr>
            <a:r>
              <a:rPr lang="en-US" sz="3036">
                <a:solidFill>
                  <a:srgbClr val="000000"/>
                </a:solidFill>
                <a:latin typeface="MediaPro Heavy Condensed"/>
                <a:ea typeface="MediaPro Heavy Condensed"/>
                <a:cs typeface="MediaPro Heavy Condensed"/>
                <a:sym typeface="MediaPro Heavy Condensed"/>
              </a:rPr>
              <a:t>TECHNICAL    APPROACH</a:t>
            </a:r>
          </a:p>
        </p:txBody>
      </p:sp>
      <p:grpSp>
        <p:nvGrpSpPr>
          <p:cNvPr name="Group 5" id="5"/>
          <p:cNvGrpSpPr/>
          <p:nvPr/>
        </p:nvGrpSpPr>
        <p:grpSpPr>
          <a:xfrm rot="0">
            <a:off x="0" y="0"/>
            <a:ext cx="1066476" cy="1066476"/>
            <a:chOff x="0" y="0"/>
            <a:chExt cx="1421968" cy="1421968"/>
          </a:xfrm>
        </p:grpSpPr>
        <p:sp>
          <p:nvSpPr>
            <p:cNvPr name="Freeform 6" id="6"/>
            <p:cNvSpPr/>
            <p:nvPr/>
          </p:nvSpPr>
          <p:spPr>
            <a:xfrm flipH="false" flipV="false" rot="0">
              <a:off x="0" y="0"/>
              <a:ext cx="1422019" cy="1422019"/>
            </a:xfrm>
            <a:custGeom>
              <a:avLst/>
              <a:gdLst/>
              <a:ahLst/>
              <a:cxnLst/>
              <a:rect r="r" b="b" t="t" l="l"/>
              <a:pathLst>
                <a:path h="1422019" w="1422019">
                  <a:moveTo>
                    <a:pt x="0" y="0"/>
                  </a:moveTo>
                  <a:lnTo>
                    <a:pt x="1422019" y="0"/>
                  </a:lnTo>
                  <a:lnTo>
                    <a:pt x="1422019" y="1422019"/>
                  </a:lnTo>
                  <a:lnTo>
                    <a:pt x="0" y="1422019"/>
                  </a:lnTo>
                  <a:lnTo>
                    <a:pt x="0" y="0"/>
                  </a:lnTo>
                  <a:close/>
                </a:path>
              </a:pathLst>
            </a:custGeom>
            <a:blipFill>
              <a:blip r:embed="rId3"/>
              <a:stretch>
                <a:fillRect l="0" t="0" r="3" b="3"/>
              </a:stretch>
            </a:blipFill>
          </p:spPr>
        </p:sp>
      </p:grpSp>
      <p:sp>
        <p:nvSpPr>
          <p:cNvPr name="Freeform 7" id="7"/>
          <p:cNvSpPr/>
          <p:nvPr/>
        </p:nvSpPr>
        <p:spPr>
          <a:xfrm flipH="false" flipV="false" rot="0">
            <a:off x="8465944" y="-66599"/>
            <a:ext cx="1287656" cy="1487472"/>
          </a:xfrm>
          <a:custGeom>
            <a:avLst/>
            <a:gdLst/>
            <a:ahLst/>
            <a:cxnLst/>
            <a:rect r="r" b="b" t="t" l="l"/>
            <a:pathLst>
              <a:path h="1487472" w="1287656">
                <a:moveTo>
                  <a:pt x="0" y="0"/>
                </a:moveTo>
                <a:lnTo>
                  <a:pt x="1287656" y="0"/>
                </a:lnTo>
                <a:lnTo>
                  <a:pt x="1287656" y="1487472"/>
                </a:lnTo>
                <a:lnTo>
                  <a:pt x="0" y="1487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628050" y="153267"/>
            <a:ext cx="922401" cy="913209"/>
            <a:chOff x="0" y="0"/>
            <a:chExt cx="1229868" cy="1217612"/>
          </a:xfrm>
        </p:grpSpPr>
        <p:sp>
          <p:nvSpPr>
            <p:cNvPr name="Freeform 9" id="9"/>
            <p:cNvSpPr/>
            <p:nvPr/>
          </p:nvSpPr>
          <p:spPr>
            <a:xfrm flipH="false" flipV="false" rot="0">
              <a:off x="0" y="0"/>
              <a:ext cx="1229868" cy="1217676"/>
            </a:xfrm>
            <a:custGeom>
              <a:avLst/>
              <a:gdLst/>
              <a:ahLst/>
              <a:cxnLst/>
              <a:rect r="r" b="b" t="t" l="l"/>
              <a:pathLst>
                <a:path h="1217676" w="1229868">
                  <a:moveTo>
                    <a:pt x="0" y="0"/>
                  </a:moveTo>
                  <a:lnTo>
                    <a:pt x="1229868" y="0"/>
                  </a:lnTo>
                  <a:lnTo>
                    <a:pt x="1229868" y="1217676"/>
                  </a:lnTo>
                  <a:lnTo>
                    <a:pt x="0" y="1217676"/>
                  </a:lnTo>
                  <a:lnTo>
                    <a:pt x="0" y="0"/>
                  </a:lnTo>
                  <a:close/>
                </a:path>
              </a:pathLst>
            </a:custGeom>
            <a:blipFill>
              <a:blip r:embed="rId6"/>
              <a:stretch>
                <a:fillRect l="0" t="-168" r="0" b="-163"/>
              </a:stretch>
            </a:blipFill>
          </p:spPr>
        </p:sp>
      </p:grpSp>
      <p:sp>
        <p:nvSpPr>
          <p:cNvPr name="Freeform 10" id="10"/>
          <p:cNvSpPr/>
          <p:nvPr/>
        </p:nvSpPr>
        <p:spPr>
          <a:xfrm flipH="false" flipV="false" rot="0">
            <a:off x="-1035272" y="6782638"/>
            <a:ext cx="11296279" cy="532562"/>
          </a:xfrm>
          <a:custGeom>
            <a:avLst/>
            <a:gdLst/>
            <a:ahLst/>
            <a:cxnLst/>
            <a:rect r="r" b="b" t="t" l="l"/>
            <a:pathLst>
              <a:path h="532562" w="11296279">
                <a:moveTo>
                  <a:pt x="0" y="0"/>
                </a:moveTo>
                <a:lnTo>
                  <a:pt x="11296278" y="0"/>
                </a:lnTo>
                <a:lnTo>
                  <a:pt x="11296278" y="532562"/>
                </a:lnTo>
                <a:lnTo>
                  <a:pt x="0" y="5325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731520" y="619987"/>
            <a:ext cx="6089039" cy="2945542"/>
          </a:xfrm>
          <a:prstGeom prst="rect">
            <a:avLst/>
          </a:prstGeom>
        </p:spPr>
        <p:txBody>
          <a:bodyPr anchor="t" rtlCol="false" tIns="0" lIns="0" bIns="0" rIns="0">
            <a:spAutoFit/>
          </a:bodyPr>
          <a:lstStyle/>
          <a:p>
            <a:pPr algn="just">
              <a:lnSpc>
                <a:spcPts val="2351"/>
              </a:lnSpc>
            </a:pPr>
          </a:p>
          <a:p>
            <a:pPr algn="just">
              <a:lnSpc>
                <a:spcPts val="2351"/>
              </a:lnSpc>
            </a:pPr>
            <a:r>
              <a:rPr lang="en-US" sz="1679" b="true">
                <a:solidFill>
                  <a:srgbClr val="000000"/>
                </a:solidFill>
                <a:latin typeface="Times New Roman Bold"/>
                <a:ea typeface="Times New Roman Bold"/>
                <a:cs typeface="Times New Roman Bold"/>
                <a:sym typeface="Times New Roman Bold"/>
              </a:rPr>
              <a:t>Machine Learning (Logistic Regression) - Model trained</a:t>
            </a:r>
          </a:p>
          <a:p>
            <a:pPr algn="just">
              <a:lnSpc>
                <a:spcPts val="2351"/>
              </a:lnSpc>
            </a:pPr>
            <a:r>
              <a:rPr lang="en-US" sz="1679" b="true">
                <a:solidFill>
                  <a:srgbClr val="000000"/>
                </a:solidFill>
                <a:latin typeface="Times New Roman Bold"/>
                <a:ea typeface="Times New Roman Bold"/>
                <a:cs typeface="Times New Roman Bold"/>
                <a:sym typeface="Times New Roman Bold"/>
              </a:rPr>
              <a:t>Hydrological and hydraulic Model (Rational Method) - Methods</a:t>
            </a:r>
          </a:p>
          <a:p>
            <a:pPr algn="just">
              <a:lnSpc>
                <a:spcPts val="2351"/>
              </a:lnSpc>
            </a:pPr>
            <a:r>
              <a:rPr lang="en-US" sz="1679" b="true">
                <a:solidFill>
                  <a:srgbClr val="000000"/>
                </a:solidFill>
                <a:latin typeface="Times New Roman Bold"/>
                <a:ea typeface="Times New Roman Bold"/>
                <a:cs typeface="Times New Roman Bold"/>
                <a:sym typeface="Times New Roman Bold"/>
              </a:rPr>
              <a:t>Real-time Weather API (OpenWeatherMap) - Data collection</a:t>
            </a:r>
          </a:p>
          <a:p>
            <a:pPr algn="just">
              <a:lnSpc>
                <a:spcPts val="2351"/>
              </a:lnSpc>
            </a:pPr>
            <a:r>
              <a:rPr lang="en-US" sz="1679" b="true">
                <a:solidFill>
                  <a:srgbClr val="000000"/>
                </a:solidFill>
                <a:latin typeface="Times New Roman Bold"/>
                <a:ea typeface="Times New Roman Bold"/>
                <a:cs typeface="Times New Roman Bold"/>
                <a:sym typeface="Times New Roman Bold"/>
              </a:rPr>
              <a:t>Flask REST API - Backend</a:t>
            </a:r>
          </a:p>
          <a:p>
            <a:pPr algn="just">
              <a:lnSpc>
                <a:spcPts val="2351"/>
              </a:lnSpc>
            </a:pPr>
            <a:r>
              <a:rPr lang="en-US" sz="1679" b="true">
                <a:solidFill>
                  <a:srgbClr val="000000"/>
                </a:solidFill>
                <a:latin typeface="Times New Roman Bold"/>
                <a:ea typeface="Times New Roman Bold"/>
                <a:cs typeface="Times New Roman Bold"/>
                <a:sym typeface="Times New Roman Bold"/>
              </a:rPr>
              <a:t>SQLite Database - Stores the data collected from Flask</a:t>
            </a:r>
          </a:p>
          <a:p>
            <a:pPr algn="just">
              <a:lnSpc>
                <a:spcPts val="2351"/>
              </a:lnSpc>
            </a:pPr>
            <a:r>
              <a:rPr lang="en-US" sz="1679" b="true">
                <a:solidFill>
                  <a:srgbClr val="000000"/>
                </a:solidFill>
                <a:latin typeface="Times New Roman Bold"/>
                <a:ea typeface="Times New Roman Bold"/>
                <a:cs typeface="Times New Roman Bold"/>
                <a:sym typeface="Times New Roman Bold"/>
              </a:rPr>
              <a:t>Multi-channel Alert System - Gives the alert message(Twilio) </a:t>
            </a:r>
          </a:p>
          <a:p>
            <a:pPr algn="just">
              <a:lnSpc>
                <a:spcPts val="2351"/>
              </a:lnSpc>
            </a:pPr>
            <a:r>
              <a:rPr lang="en-US" sz="1679" b="true">
                <a:solidFill>
                  <a:srgbClr val="000000"/>
                </a:solidFill>
                <a:latin typeface="Times New Roman Bold"/>
                <a:ea typeface="Times New Roman Bold"/>
                <a:cs typeface="Times New Roman Bold"/>
                <a:sym typeface="Times New Roman Bold"/>
              </a:rPr>
              <a:t>Html and css - Frontend</a:t>
            </a:r>
          </a:p>
          <a:p>
            <a:pPr algn="just">
              <a:lnSpc>
                <a:spcPts val="2351"/>
              </a:lnSpc>
            </a:pPr>
          </a:p>
          <a:p>
            <a:pPr algn="just">
              <a:lnSpc>
                <a:spcPts val="2351"/>
              </a:lnSpc>
              <a:spcBef>
                <a:spcPct val="0"/>
              </a:spcBef>
            </a:pPr>
          </a:p>
        </p:txBody>
      </p:sp>
      <p:sp>
        <p:nvSpPr>
          <p:cNvPr name="TextBox 12" id="12"/>
          <p:cNvSpPr txBox="true"/>
          <p:nvPr/>
        </p:nvSpPr>
        <p:spPr>
          <a:xfrm rot="0">
            <a:off x="1066476" y="3042644"/>
            <a:ext cx="6367853" cy="522884"/>
          </a:xfrm>
          <a:prstGeom prst="rect">
            <a:avLst/>
          </a:prstGeom>
        </p:spPr>
        <p:txBody>
          <a:bodyPr anchor="t" rtlCol="false" tIns="0" lIns="0" bIns="0" rIns="0">
            <a:spAutoFit/>
          </a:bodyPr>
          <a:lstStyle/>
          <a:p>
            <a:pPr algn="ctr">
              <a:lnSpc>
                <a:spcPts val="4251"/>
              </a:lnSpc>
            </a:pPr>
            <a:r>
              <a:rPr lang="en-US" sz="3036">
                <a:solidFill>
                  <a:srgbClr val="000000"/>
                </a:solidFill>
                <a:latin typeface="MediaPro Heavy Condensed"/>
                <a:ea typeface="MediaPro Heavy Condensed"/>
                <a:cs typeface="MediaPro Heavy Condensed"/>
                <a:sym typeface="MediaPro Heavy Condensed"/>
              </a:rPr>
              <a:t>Methodology</a:t>
            </a:r>
          </a:p>
        </p:txBody>
      </p:sp>
      <p:sp>
        <p:nvSpPr>
          <p:cNvPr name="TextBox 13" id="13"/>
          <p:cNvSpPr txBox="true"/>
          <p:nvPr/>
        </p:nvSpPr>
        <p:spPr>
          <a:xfrm rot="0">
            <a:off x="829223" y="3609970"/>
            <a:ext cx="8095163" cy="1889420"/>
          </a:xfrm>
          <a:prstGeom prst="rect">
            <a:avLst/>
          </a:prstGeom>
        </p:spPr>
        <p:txBody>
          <a:bodyPr anchor="t" rtlCol="false" tIns="0" lIns="0" bIns="0" rIns="0">
            <a:spAutoFit/>
          </a:bodyPr>
          <a:lstStyle/>
          <a:p>
            <a:pPr algn="just">
              <a:lnSpc>
                <a:spcPts val="2155"/>
              </a:lnSpc>
            </a:pPr>
            <a:r>
              <a:rPr lang="en-US" sz="1539" b="true">
                <a:solidFill>
                  <a:srgbClr val="000000"/>
                </a:solidFill>
                <a:latin typeface="Times New Roman Bold"/>
                <a:ea typeface="Times New Roman Bold"/>
                <a:cs typeface="Times New Roman Bold"/>
                <a:sym typeface="Times New Roman Bold"/>
              </a:rPr>
              <a:t>The system collects real-time rainfall and river level data from wireless sensors deployed in flood-prone areas. This data is processed by a backend server, where machine learning models analyze current and historical trends to predict potential floods. When risk thresholds are exceeded, the system automatically sends alerts to users via SMS, email, and a web-based dashboard built with HTML, CSS, and JavaScript. The methodology ensures timely detection, efficient data processing, and clear communication with end-users.</a:t>
            </a:r>
          </a:p>
          <a:p>
            <a:pPr algn="just">
              <a:lnSpc>
                <a:spcPts val="215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70602" y="2322452"/>
            <a:ext cx="3012405" cy="2670286"/>
            <a:chOff x="0" y="0"/>
            <a:chExt cx="4016540" cy="3560382"/>
          </a:xfrm>
        </p:grpSpPr>
        <p:sp>
          <p:nvSpPr>
            <p:cNvPr name="Freeform 3" id="3"/>
            <p:cNvSpPr/>
            <p:nvPr/>
          </p:nvSpPr>
          <p:spPr>
            <a:xfrm flipH="false" flipV="false" rot="0">
              <a:off x="0" y="0"/>
              <a:ext cx="4016502" cy="3560445"/>
            </a:xfrm>
            <a:custGeom>
              <a:avLst/>
              <a:gdLst/>
              <a:ahLst/>
              <a:cxnLst/>
              <a:rect r="r" b="b" t="t" l="l"/>
              <a:pathLst>
                <a:path h="3560445" w="4016502">
                  <a:moveTo>
                    <a:pt x="0" y="0"/>
                  </a:moveTo>
                  <a:lnTo>
                    <a:pt x="4016502" y="0"/>
                  </a:lnTo>
                  <a:lnTo>
                    <a:pt x="4016502" y="3560445"/>
                  </a:lnTo>
                  <a:lnTo>
                    <a:pt x="0" y="3560445"/>
                  </a:lnTo>
                  <a:lnTo>
                    <a:pt x="0" y="0"/>
                  </a:lnTo>
                  <a:close/>
                </a:path>
              </a:pathLst>
            </a:custGeom>
            <a:blipFill>
              <a:blip r:embed="rId2">
                <a:alphaModFix amt="12000"/>
              </a:blip>
              <a:stretch>
                <a:fillRect l="0" t="-31" r="0" b="-28"/>
              </a:stretch>
            </a:blipFill>
          </p:spPr>
        </p:sp>
      </p:grpSp>
      <p:grpSp>
        <p:nvGrpSpPr>
          <p:cNvPr name="Group 4" id="4"/>
          <p:cNvGrpSpPr/>
          <p:nvPr/>
        </p:nvGrpSpPr>
        <p:grpSpPr>
          <a:xfrm rot="0">
            <a:off x="0" y="0"/>
            <a:ext cx="1066476" cy="1066476"/>
            <a:chOff x="0" y="0"/>
            <a:chExt cx="1421968" cy="1421968"/>
          </a:xfrm>
        </p:grpSpPr>
        <p:sp>
          <p:nvSpPr>
            <p:cNvPr name="Freeform 5" id="5"/>
            <p:cNvSpPr/>
            <p:nvPr/>
          </p:nvSpPr>
          <p:spPr>
            <a:xfrm flipH="false" flipV="false" rot="0">
              <a:off x="0" y="0"/>
              <a:ext cx="1422019" cy="1422019"/>
            </a:xfrm>
            <a:custGeom>
              <a:avLst/>
              <a:gdLst/>
              <a:ahLst/>
              <a:cxnLst/>
              <a:rect r="r" b="b" t="t" l="l"/>
              <a:pathLst>
                <a:path h="1422019" w="1422019">
                  <a:moveTo>
                    <a:pt x="0" y="0"/>
                  </a:moveTo>
                  <a:lnTo>
                    <a:pt x="1422019" y="0"/>
                  </a:lnTo>
                  <a:lnTo>
                    <a:pt x="1422019" y="1422019"/>
                  </a:lnTo>
                  <a:lnTo>
                    <a:pt x="0" y="1422019"/>
                  </a:lnTo>
                  <a:lnTo>
                    <a:pt x="0" y="0"/>
                  </a:lnTo>
                  <a:close/>
                </a:path>
              </a:pathLst>
            </a:custGeom>
            <a:blipFill>
              <a:blip r:embed="rId3"/>
              <a:stretch>
                <a:fillRect l="0" t="0" r="3" b="3"/>
              </a:stretch>
            </a:blipFill>
          </p:spPr>
        </p:sp>
      </p:grpSp>
      <p:sp>
        <p:nvSpPr>
          <p:cNvPr name="Freeform 6" id="6"/>
          <p:cNvSpPr/>
          <p:nvPr/>
        </p:nvSpPr>
        <p:spPr>
          <a:xfrm flipH="false" flipV="false" rot="0">
            <a:off x="8465944" y="-66599"/>
            <a:ext cx="1287656" cy="1487472"/>
          </a:xfrm>
          <a:custGeom>
            <a:avLst/>
            <a:gdLst/>
            <a:ahLst/>
            <a:cxnLst/>
            <a:rect r="r" b="b" t="t" l="l"/>
            <a:pathLst>
              <a:path h="1487472" w="1287656">
                <a:moveTo>
                  <a:pt x="0" y="0"/>
                </a:moveTo>
                <a:lnTo>
                  <a:pt x="1287656" y="0"/>
                </a:lnTo>
                <a:lnTo>
                  <a:pt x="1287656" y="1487472"/>
                </a:lnTo>
                <a:lnTo>
                  <a:pt x="0" y="1487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8628050" y="153267"/>
            <a:ext cx="922401" cy="913209"/>
            <a:chOff x="0" y="0"/>
            <a:chExt cx="1229868" cy="1217612"/>
          </a:xfrm>
        </p:grpSpPr>
        <p:sp>
          <p:nvSpPr>
            <p:cNvPr name="Freeform 8" id="8"/>
            <p:cNvSpPr/>
            <p:nvPr/>
          </p:nvSpPr>
          <p:spPr>
            <a:xfrm flipH="false" flipV="false" rot="0">
              <a:off x="0" y="0"/>
              <a:ext cx="1229868" cy="1217676"/>
            </a:xfrm>
            <a:custGeom>
              <a:avLst/>
              <a:gdLst/>
              <a:ahLst/>
              <a:cxnLst/>
              <a:rect r="r" b="b" t="t" l="l"/>
              <a:pathLst>
                <a:path h="1217676" w="1229868">
                  <a:moveTo>
                    <a:pt x="0" y="0"/>
                  </a:moveTo>
                  <a:lnTo>
                    <a:pt x="1229868" y="0"/>
                  </a:lnTo>
                  <a:lnTo>
                    <a:pt x="1229868" y="1217676"/>
                  </a:lnTo>
                  <a:lnTo>
                    <a:pt x="0" y="1217676"/>
                  </a:lnTo>
                  <a:lnTo>
                    <a:pt x="0" y="0"/>
                  </a:lnTo>
                  <a:close/>
                </a:path>
              </a:pathLst>
            </a:custGeom>
            <a:blipFill>
              <a:blip r:embed="rId6"/>
              <a:stretch>
                <a:fillRect l="0" t="-168" r="0" b="-163"/>
              </a:stretch>
            </a:blipFill>
          </p:spPr>
        </p:sp>
      </p:grpSp>
      <p:sp>
        <p:nvSpPr>
          <p:cNvPr name="Freeform 9" id="9"/>
          <p:cNvSpPr/>
          <p:nvPr/>
        </p:nvSpPr>
        <p:spPr>
          <a:xfrm flipH="false" flipV="false" rot="0">
            <a:off x="-1035272" y="6782638"/>
            <a:ext cx="11296279" cy="532562"/>
          </a:xfrm>
          <a:custGeom>
            <a:avLst/>
            <a:gdLst/>
            <a:ahLst/>
            <a:cxnLst/>
            <a:rect r="r" b="b" t="t" l="l"/>
            <a:pathLst>
              <a:path h="532562" w="11296279">
                <a:moveTo>
                  <a:pt x="0" y="0"/>
                </a:moveTo>
                <a:lnTo>
                  <a:pt x="11296278" y="0"/>
                </a:lnTo>
                <a:lnTo>
                  <a:pt x="11296278" y="532562"/>
                </a:lnTo>
                <a:lnTo>
                  <a:pt x="0" y="5325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66476" y="972728"/>
            <a:ext cx="1713920" cy="1728704"/>
          </a:xfrm>
          <a:custGeom>
            <a:avLst/>
            <a:gdLst/>
            <a:ahLst/>
            <a:cxnLst/>
            <a:rect r="r" b="b" t="t" l="l"/>
            <a:pathLst>
              <a:path h="1728704" w="1713920">
                <a:moveTo>
                  <a:pt x="0" y="0"/>
                </a:moveTo>
                <a:lnTo>
                  <a:pt x="1713920" y="0"/>
                </a:lnTo>
                <a:lnTo>
                  <a:pt x="1713920" y="1728703"/>
                </a:lnTo>
                <a:lnTo>
                  <a:pt x="0" y="1728703"/>
                </a:lnTo>
                <a:lnTo>
                  <a:pt x="0" y="0"/>
                </a:lnTo>
                <a:close/>
              </a:path>
            </a:pathLst>
          </a:custGeom>
          <a:blipFill>
            <a:blip r:embed="rId9"/>
            <a:stretch>
              <a:fillRect l="-13320" t="-13128" r="-14104" b="-13206"/>
            </a:stretch>
          </a:blipFill>
        </p:spPr>
      </p:sp>
      <p:sp>
        <p:nvSpPr>
          <p:cNvPr name="Freeform 11" id="11"/>
          <p:cNvSpPr/>
          <p:nvPr/>
        </p:nvSpPr>
        <p:spPr>
          <a:xfrm flipH="false" flipV="false" rot="0">
            <a:off x="4612867" y="3463679"/>
            <a:ext cx="4670827" cy="2487111"/>
          </a:xfrm>
          <a:custGeom>
            <a:avLst/>
            <a:gdLst/>
            <a:ahLst/>
            <a:cxnLst/>
            <a:rect r="r" b="b" t="t" l="l"/>
            <a:pathLst>
              <a:path h="2487111" w="4670827">
                <a:moveTo>
                  <a:pt x="0" y="0"/>
                </a:moveTo>
                <a:lnTo>
                  <a:pt x="4670827" y="0"/>
                </a:lnTo>
                <a:lnTo>
                  <a:pt x="4670827" y="2487111"/>
                </a:lnTo>
                <a:lnTo>
                  <a:pt x="0" y="2487111"/>
                </a:lnTo>
                <a:lnTo>
                  <a:pt x="0" y="0"/>
                </a:lnTo>
                <a:close/>
              </a:path>
            </a:pathLst>
          </a:custGeom>
          <a:blipFill>
            <a:blip r:embed="rId10"/>
            <a:stretch>
              <a:fillRect l="-2109" t="-7323" r="-4202" b="-1489"/>
            </a:stretch>
          </a:blipFill>
        </p:spPr>
      </p:sp>
      <p:sp>
        <p:nvSpPr>
          <p:cNvPr name="Freeform 12" id="12"/>
          <p:cNvSpPr/>
          <p:nvPr/>
        </p:nvSpPr>
        <p:spPr>
          <a:xfrm flipH="false" flipV="false" rot="0">
            <a:off x="731520" y="3244356"/>
            <a:ext cx="1996319" cy="1996319"/>
          </a:xfrm>
          <a:custGeom>
            <a:avLst/>
            <a:gdLst/>
            <a:ahLst/>
            <a:cxnLst/>
            <a:rect r="r" b="b" t="t" l="l"/>
            <a:pathLst>
              <a:path h="1996319" w="1996319">
                <a:moveTo>
                  <a:pt x="0" y="0"/>
                </a:moveTo>
                <a:lnTo>
                  <a:pt x="1996319" y="0"/>
                </a:lnTo>
                <a:lnTo>
                  <a:pt x="1996319" y="1996319"/>
                </a:lnTo>
                <a:lnTo>
                  <a:pt x="0" y="1996319"/>
                </a:lnTo>
                <a:lnTo>
                  <a:pt x="0" y="0"/>
                </a:lnTo>
                <a:close/>
              </a:path>
            </a:pathLst>
          </a:custGeom>
          <a:blipFill>
            <a:blip r:embed="rId11"/>
            <a:stretch>
              <a:fillRect l="0" t="0" r="0" b="0"/>
            </a:stretch>
          </a:blipFill>
        </p:spPr>
      </p:sp>
      <p:sp>
        <p:nvSpPr>
          <p:cNvPr name="TextBox 13" id="13"/>
          <p:cNvSpPr txBox="true"/>
          <p:nvPr/>
        </p:nvSpPr>
        <p:spPr>
          <a:xfrm rot="0">
            <a:off x="1428941" y="248383"/>
            <a:ext cx="6367853" cy="522884"/>
          </a:xfrm>
          <a:prstGeom prst="rect">
            <a:avLst/>
          </a:prstGeom>
        </p:spPr>
        <p:txBody>
          <a:bodyPr anchor="t" rtlCol="false" tIns="0" lIns="0" bIns="0" rIns="0">
            <a:spAutoFit/>
          </a:bodyPr>
          <a:lstStyle/>
          <a:p>
            <a:pPr algn="ctr">
              <a:lnSpc>
                <a:spcPts val="4251"/>
              </a:lnSpc>
            </a:pPr>
            <a:r>
              <a:rPr lang="en-US" sz="3036">
                <a:solidFill>
                  <a:srgbClr val="000000"/>
                </a:solidFill>
                <a:latin typeface="MediaPro Heavy Condensed"/>
                <a:ea typeface="MediaPro Heavy Condensed"/>
                <a:cs typeface="MediaPro Heavy Condensed"/>
                <a:sym typeface="MediaPro Heavy Condensed"/>
              </a:rPr>
              <a:t>Flood prediction and Alert system</a:t>
            </a:r>
          </a:p>
        </p:txBody>
      </p:sp>
      <p:sp>
        <p:nvSpPr>
          <p:cNvPr name="TextBox 14" id="14"/>
          <p:cNvSpPr txBox="true"/>
          <p:nvPr/>
        </p:nvSpPr>
        <p:spPr>
          <a:xfrm rot="0">
            <a:off x="731520" y="1399684"/>
            <a:ext cx="6367853" cy="522884"/>
          </a:xfrm>
          <a:prstGeom prst="rect">
            <a:avLst/>
          </a:prstGeom>
        </p:spPr>
        <p:txBody>
          <a:bodyPr anchor="t" rtlCol="false" tIns="0" lIns="0" bIns="0" rIns="0">
            <a:spAutoFit/>
          </a:bodyPr>
          <a:lstStyle/>
          <a:p>
            <a:pPr algn="ctr">
              <a:lnSpc>
                <a:spcPts val="4251"/>
              </a:lnSpc>
            </a:pPr>
            <a:r>
              <a:rPr lang="en-US" sz="3036">
                <a:solidFill>
                  <a:srgbClr val="000000"/>
                </a:solidFill>
                <a:latin typeface="MediaPro Heavy Condensed"/>
                <a:ea typeface="MediaPro Heavy Condensed"/>
                <a:cs typeface="MediaPro Heavy Condensed"/>
                <a:sym typeface="MediaPro Heavy Condensed"/>
              </a:rPr>
              <a:t>github link</a:t>
            </a:r>
          </a:p>
        </p:txBody>
      </p:sp>
      <p:sp>
        <p:nvSpPr>
          <p:cNvPr name="TextBox 15" id="15"/>
          <p:cNvSpPr txBox="true"/>
          <p:nvPr/>
        </p:nvSpPr>
        <p:spPr>
          <a:xfrm rot="0">
            <a:off x="-726951" y="2787776"/>
            <a:ext cx="6367853" cy="522884"/>
          </a:xfrm>
          <a:prstGeom prst="rect">
            <a:avLst/>
          </a:prstGeom>
        </p:spPr>
        <p:txBody>
          <a:bodyPr anchor="t" rtlCol="false" tIns="0" lIns="0" bIns="0" rIns="0">
            <a:spAutoFit/>
          </a:bodyPr>
          <a:lstStyle/>
          <a:p>
            <a:pPr algn="ctr">
              <a:lnSpc>
                <a:spcPts val="4251"/>
              </a:lnSpc>
            </a:pPr>
            <a:r>
              <a:rPr lang="en-US" sz="3036">
                <a:solidFill>
                  <a:srgbClr val="000000"/>
                </a:solidFill>
                <a:latin typeface="MediaPro Heavy Condensed"/>
                <a:ea typeface="MediaPro Heavy Condensed"/>
                <a:cs typeface="MediaPro Heavy Condensed"/>
                <a:sym typeface="MediaPro Heavy Condensed"/>
              </a:rPr>
              <a:t>flood prediction app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DAHEJPfplGo</dc:identifier>
  <dcterms:modified xsi:type="dcterms:W3CDTF">2011-08-01T06:04:30Z</dcterms:modified>
  <cp:revision>1</cp:revision>
  <dc:title>PY019-PYTHONSCRIPTERS.pptx</dc:title>
</cp:coreProperties>
</file>