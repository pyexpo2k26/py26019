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0287000" cy="13716000"/>
  <p:notesSz cx="6858000" cy="9144000"/>
  <p:embeddedFontLst>
    <p:embeddedFont>
      <p:font typeface="Canva Sans Bold" charset="1" panose="020B0803030501040103"/>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44666"/>
            <a:ext cx="7246953" cy="712422"/>
          </a:xfrm>
          <a:custGeom>
            <a:avLst/>
            <a:gdLst/>
            <a:ahLst/>
            <a:cxnLst/>
            <a:rect r="r" b="b" t="t" l="l"/>
            <a:pathLst>
              <a:path h="712422" w="7246953">
                <a:moveTo>
                  <a:pt x="0" y="0"/>
                </a:moveTo>
                <a:lnTo>
                  <a:pt x="7246953" y="0"/>
                </a:lnTo>
                <a:lnTo>
                  <a:pt x="7246953" y="712423"/>
                </a:lnTo>
                <a:lnTo>
                  <a:pt x="0" y="712423"/>
                </a:lnTo>
                <a:lnTo>
                  <a:pt x="0" y="0"/>
                </a:lnTo>
                <a:close/>
              </a:path>
            </a:pathLst>
          </a:custGeom>
          <a:blipFill>
            <a:blip r:embed="rId2">
              <a:extLst>
                <a:ext uri="{96DAC541-7B7A-43D3-8B79-37D633B846F1}">
                  <asvg:svgBlip xmlns:asvg="http://schemas.microsoft.com/office/drawing/2016/SVG/main" r:embed="rId3"/>
                </a:ext>
              </a:extLst>
            </a:blip>
            <a:stretch>
              <a:fillRect l="0" t="-125" r="0" b="-127"/>
            </a:stretch>
          </a:blipFill>
        </p:spPr>
      </p:sp>
      <p:sp>
        <p:nvSpPr>
          <p:cNvPr name="Freeform 3" id="3"/>
          <p:cNvSpPr/>
          <p:nvPr/>
        </p:nvSpPr>
        <p:spPr>
          <a:xfrm flipH="false" flipV="false" rot="0">
            <a:off x="2053057" y="12954648"/>
            <a:ext cx="8233943" cy="761352"/>
          </a:xfrm>
          <a:custGeom>
            <a:avLst/>
            <a:gdLst/>
            <a:ahLst/>
            <a:cxnLst/>
            <a:rect r="r" b="b" t="t" l="l"/>
            <a:pathLst>
              <a:path h="761352" w="8233943">
                <a:moveTo>
                  <a:pt x="0" y="0"/>
                </a:moveTo>
                <a:lnTo>
                  <a:pt x="8233943" y="0"/>
                </a:lnTo>
                <a:lnTo>
                  <a:pt x="8233943" y="761352"/>
                </a:lnTo>
                <a:lnTo>
                  <a:pt x="0" y="761352"/>
                </a:lnTo>
                <a:lnTo>
                  <a:pt x="0" y="0"/>
                </a:lnTo>
                <a:close/>
              </a:path>
            </a:pathLst>
          </a:custGeom>
          <a:blipFill>
            <a:blip r:embed="rId4">
              <a:extLst>
                <a:ext uri="{96DAC541-7B7A-43D3-8B79-37D633B846F1}">
                  <asvg:svgBlip xmlns:asvg="http://schemas.microsoft.com/office/drawing/2016/SVG/main" r:embed="rId5"/>
                </a:ext>
              </a:extLst>
            </a:blip>
            <a:stretch>
              <a:fillRect l="0" t="-11" r="0" b="-11"/>
            </a:stretch>
          </a:blipFill>
        </p:spPr>
      </p:sp>
      <p:sp>
        <p:nvSpPr>
          <p:cNvPr name="Freeform 4" id="4"/>
          <p:cNvSpPr/>
          <p:nvPr/>
        </p:nvSpPr>
        <p:spPr>
          <a:xfrm flipH="false" flipV="false" rot="0">
            <a:off x="1028700" y="6413230"/>
            <a:ext cx="5405704" cy="2543613"/>
          </a:xfrm>
          <a:custGeom>
            <a:avLst/>
            <a:gdLst/>
            <a:ahLst/>
            <a:cxnLst/>
            <a:rect r="r" b="b" t="t" l="l"/>
            <a:pathLst>
              <a:path h="2543613" w="5405704">
                <a:moveTo>
                  <a:pt x="0" y="0"/>
                </a:moveTo>
                <a:lnTo>
                  <a:pt x="5405704" y="0"/>
                </a:lnTo>
                <a:lnTo>
                  <a:pt x="5405704" y="2543613"/>
                </a:lnTo>
                <a:lnTo>
                  <a:pt x="0" y="2543613"/>
                </a:lnTo>
                <a:lnTo>
                  <a:pt x="0" y="0"/>
                </a:lnTo>
                <a:close/>
              </a:path>
            </a:pathLst>
          </a:custGeom>
          <a:blipFill>
            <a:blip r:embed="rId6">
              <a:extLst>
                <a:ext uri="{96DAC541-7B7A-43D3-8B79-37D633B846F1}">
                  <asvg:svgBlip xmlns:asvg="http://schemas.microsoft.com/office/drawing/2016/SVG/main" r:embed="rId7"/>
                </a:ext>
              </a:extLst>
            </a:blip>
            <a:stretch>
              <a:fillRect l="0" t="-137" r="0" b="-136"/>
            </a:stretch>
          </a:blipFill>
        </p:spPr>
      </p:sp>
      <p:sp>
        <p:nvSpPr>
          <p:cNvPr name="Freeform 5" id="5"/>
          <p:cNvSpPr/>
          <p:nvPr/>
        </p:nvSpPr>
        <p:spPr>
          <a:xfrm flipH="false" flipV="false" rot="0">
            <a:off x="1028700" y="9018184"/>
            <a:ext cx="8229600" cy="3875122"/>
          </a:xfrm>
          <a:custGeom>
            <a:avLst/>
            <a:gdLst/>
            <a:ahLst/>
            <a:cxnLst/>
            <a:rect r="r" b="b" t="t" l="l"/>
            <a:pathLst>
              <a:path h="3875122" w="8229600">
                <a:moveTo>
                  <a:pt x="0" y="0"/>
                </a:moveTo>
                <a:lnTo>
                  <a:pt x="8229600" y="0"/>
                </a:lnTo>
                <a:lnTo>
                  <a:pt x="8229600" y="3875123"/>
                </a:lnTo>
                <a:lnTo>
                  <a:pt x="0" y="3875123"/>
                </a:lnTo>
                <a:lnTo>
                  <a:pt x="0" y="0"/>
                </a:lnTo>
                <a:close/>
              </a:path>
            </a:pathLst>
          </a:custGeom>
          <a:blipFill>
            <a:blip r:embed="rId8">
              <a:extLst>
                <a:ext uri="{96DAC541-7B7A-43D3-8B79-37D633B846F1}">
                  <asvg:svgBlip xmlns:asvg="http://schemas.microsoft.com/office/drawing/2016/SVG/main" r:embed="rId9"/>
                </a:ext>
              </a:extLst>
            </a:blip>
            <a:stretch>
              <a:fillRect l="0" t="-20" r="0" b="-19"/>
            </a:stretch>
          </a:blipFill>
        </p:spPr>
      </p:sp>
      <p:sp>
        <p:nvSpPr>
          <p:cNvPr name="Freeform 6" id="6"/>
          <p:cNvSpPr/>
          <p:nvPr/>
        </p:nvSpPr>
        <p:spPr>
          <a:xfrm flipH="false" flipV="false" rot="0">
            <a:off x="0" y="-144666"/>
            <a:ext cx="525875" cy="4608557"/>
          </a:xfrm>
          <a:custGeom>
            <a:avLst/>
            <a:gdLst/>
            <a:ahLst/>
            <a:cxnLst/>
            <a:rect r="r" b="b" t="t" l="l"/>
            <a:pathLst>
              <a:path h="4608557" w="525875">
                <a:moveTo>
                  <a:pt x="0" y="0"/>
                </a:moveTo>
                <a:lnTo>
                  <a:pt x="525875" y="0"/>
                </a:lnTo>
                <a:lnTo>
                  <a:pt x="525875" y="4608557"/>
                </a:lnTo>
                <a:lnTo>
                  <a:pt x="0" y="4608557"/>
                </a:lnTo>
                <a:lnTo>
                  <a:pt x="0" y="0"/>
                </a:lnTo>
                <a:close/>
              </a:path>
            </a:pathLst>
          </a:custGeom>
          <a:blipFill>
            <a:blip r:embed="rId10">
              <a:extLst>
                <a:ext uri="{96DAC541-7B7A-43D3-8B79-37D633B846F1}">
                  <asvg:svgBlip xmlns:asvg="http://schemas.microsoft.com/office/drawing/2016/SVG/main" r:embed="rId11"/>
                </a:ext>
              </a:extLst>
            </a:blip>
            <a:stretch>
              <a:fillRect l="-699" t="0" r="-697" b="0"/>
            </a:stretch>
          </a:blipFill>
        </p:spPr>
      </p:sp>
      <p:sp>
        <p:nvSpPr>
          <p:cNvPr name="Freeform 7" id="7"/>
          <p:cNvSpPr/>
          <p:nvPr/>
        </p:nvSpPr>
        <p:spPr>
          <a:xfrm flipH="false" flipV="false" rot="0">
            <a:off x="9726720" y="10061791"/>
            <a:ext cx="560280" cy="3230766"/>
          </a:xfrm>
          <a:custGeom>
            <a:avLst/>
            <a:gdLst/>
            <a:ahLst/>
            <a:cxnLst/>
            <a:rect r="r" b="b" t="t" l="l"/>
            <a:pathLst>
              <a:path h="3230766" w="560280">
                <a:moveTo>
                  <a:pt x="0" y="0"/>
                </a:moveTo>
                <a:lnTo>
                  <a:pt x="560280" y="0"/>
                </a:lnTo>
                <a:lnTo>
                  <a:pt x="560280" y="3230766"/>
                </a:lnTo>
                <a:lnTo>
                  <a:pt x="0" y="3230766"/>
                </a:lnTo>
                <a:lnTo>
                  <a:pt x="0" y="0"/>
                </a:lnTo>
                <a:close/>
              </a:path>
            </a:pathLst>
          </a:custGeom>
          <a:blipFill>
            <a:blip r:embed="rId12">
              <a:extLst>
                <a:ext uri="{96DAC541-7B7A-43D3-8B79-37D633B846F1}">
                  <asvg:svgBlip xmlns:asvg="http://schemas.microsoft.com/office/drawing/2016/SVG/main" r:embed="rId13"/>
                </a:ext>
              </a:extLst>
            </a:blip>
            <a:stretch>
              <a:fillRect l="-32" t="0" r="-30" b="0"/>
            </a:stretch>
          </a:blipFill>
        </p:spPr>
      </p:sp>
      <p:sp>
        <p:nvSpPr>
          <p:cNvPr name="Freeform 8" id="8"/>
          <p:cNvSpPr/>
          <p:nvPr/>
        </p:nvSpPr>
        <p:spPr>
          <a:xfrm flipH="false" flipV="false" rot="0">
            <a:off x="-1353" y="7522883"/>
            <a:ext cx="772878" cy="4119915"/>
          </a:xfrm>
          <a:custGeom>
            <a:avLst/>
            <a:gdLst/>
            <a:ahLst/>
            <a:cxnLst/>
            <a:rect r="r" b="b" t="t" l="l"/>
            <a:pathLst>
              <a:path h="4119915" w="772878">
                <a:moveTo>
                  <a:pt x="0" y="0"/>
                </a:moveTo>
                <a:lnTo>
                  <a:pt x="772878" y="0"/>
                </a:lnTo>
                <a:lnTo>
                  <a:pt x="772878" y="4119915"/>
                </a:lnTo>
                <a:lnTo>
                  <a:pt x="0" y="4119915"/>
                </a:lnTo>
                <a:lnTo>
                  <a:pt x="0" y="0"/>
                </a:lnTo>
                <a:close/>
              </a:path>
            </a:pathLst>
          </a:custGeom>
          <a:blipFill>
            <a:blip r:embed="rId14">
              <a:extLst>
                <a:ext uri="{96DAC541-7B7A-43D3-8B79-37D633B846F1}">
                  <asvg:svgBlip xmlns:asvg="http://schemas.microsoft.com/office/drawing/2016/SVG/main" r:embed="rId15"/>
                </a:ext>
              </a:extLst>
            </a:blip>
            <a:stretch>
              <a:fillRect l="-474" t="0" r="-474" b="0"/>
            </a:stretch>
          </a:blipFill>
        </p:spPr>
      </p:sp>
      <p:sp>
        <p:nvSpPr>
          <p:cNvPr name="Freeform 9" id="9"/>
          <p:cNvSpPr/>
          <p:nvPr/>
        </p:nvSpPr>
        <p:spPr>
          <a:xfrm flipH="false" flipV="false" rot="0">
            <a:off x="9514122" y="3402968"/>
            <a:ext cx="772878" cy="4119915"/>
          </a:xfrm>
          <a:custGeom>
            <a:avLst/>
            <a:gdLst/>
            <a:ahLst/>
            <a:cxnLst/>
            <a:rect r="r" b="b" t="t" l="l"/>
            <a:pathLst>
              <a:path h="4119915" w="772878">
                <a:moveTo>
                  <a:pt x="0" y="0"/>
                </a:moveTo>
                <a:lnTo>
                  <a:pt x="772878" y="0"/>
                </a:lnTo>
                <a:lnTo>
                  <a:pt x="772878" y="4119915"/>
                </a:lnTo>
                <a:lnTo>
                  <a:pt x="0" y="4119915"/>
                </a:lnTo>
                <a:lnTo>
                  <a:pt x="0" y="0"/>
                </a:lnTo>
                <a:close/>
              </a:path>
            </a:pathLst>
          </a:custGeom>
          <a:blipFill>
            <a:blip r:embed="rId16">
              <a:extLst>
                <a:ext uri="{96DAC541-7B7A-43D3-8B79-37D633B846F1}">
                  <asvg:svgBlip xmlns:asvg="http://schemas.microsoft.com/office/drawing/2016/SVG/main" r:embed="rId17"/>
                </a:ext>
              </a:extLst>
            </a:blip>
            <a:stretch>
              <a:fillRect l="-474" t="0" r="-474" b="0"/>
            </a:stretch>
          </a:blipFill>
        </p:spPr>
      </p:sp>
      <p:grpSp>
        <p:nvGrpSpPr>
          <p:cNvPr name="Group 10" id="10"/>
          <p:cNvGrpSpPr/>
          <p:nvPr/>
        </p:nvGrpSpPr>
        <p:grpSpPr>
          <a:xfrm rot="0">
            <a:off x="1028700" y="851887"/>
            <a:ext cx="8229600" cy="5485066"/>
            <a:chOff x="0" y="0"/>
            <a:chExt cx="10972800" cy="7313422"/>
          </a:xfrm>
        </p:grpSpPr>
        <p:sp>
          <p:nvSpPr>
            <p:cNvPr name="Freeform 11" id="11"/>
            <p:cNvSpPr/>
            <p:nvPr/>
          </p:nvSpPr>
          <p:spPr>
            <a:xfrm flipH="false" flipV="false" rot="0">
              <a:off x="0" y="0"/>
              <a:ext cx="10972800" cy="7313422"/>
            </a:xfrm>
            <a:custGeom>
              <a:avLst/>
              <a:gdLst/>
              <a:ahLst/>
              <a:cxnLst/>
              <a:rect r="r" b="b" t="t" l="l"/>
              <a:pathLst>
                <a:path h="7313422" w="10972800">
                  <a:moveTo>
                    <a:pt x="0" y="0"/>
                  </a:moveTo>
                  <a:lnTo>
                    <a:pt x="10972800" y="0"/>
                  </a:lnTo>
                  <a:lnTo>
                    <a:pt x="10972800" y="7313422"/>
                  </a:lnTo>
                  <a:lnTo>
                    <a:pt x="0" y="7313422"/>
                  </a:lnTo>
                  <a:lnTo>
                    <a:pt x="0" y="0"/>
                  </a:lnTo>
                  <a:close/>
                </a:path>
              </a:pathLst>
            </a:custGeom>
            <a:blipFill>
              <a:blip r:embed="rId18"/>
              <a:stretch>
                <a:fillRect l="0" t="-36" r="0" b="-36"/>
              </a:stretch>
            </a:blipFill>
          </p:spPr>
        </p:sp>
      </p:grpSp>
      <p:sp>
        <p:nvSpPr>
          <p:cNvPr name="TextBox 12" id="12"/>
          <p:cNvSpPr txBox="true"/>
          <p:nvPr/>
        </p:nvSpPr>
        <p:spPr>
          <a:xfrm rot="0">
            <a:off x="771525" y="6516691"/>
            <a:ext cx="3383556" cy="444503"/>
          </a:xfrm>
          <a:prstGeom prst="rect">
            <a:avLst/>
          </a:prstGeom>
        </p:spPr>
        <p:txBody>
          <a:bodyPr anchor="t" rtlCol="false" tIns="0" lIns="0" bIns="0" rIns="0">
            <a:spAutoFit/>
          </a:bodyPr>
          <a:lstStyle/>
          <a:p>
            <a:pPr algn="ctr">
              <a:lnSpc>
                <a:spcPts val="2800"/>
              </a:lnSpc>
            </a:pPr>
            <a:r>
              <a:rPr lang="en-US" sz="2000" b="true">
                <a:solidFill>
                  <a:srgbClr val="000000"/>
                </a:solidFill>
                <a:latin typeface="Canva Sans Bold"/>
                <a:ea typeface="Canva Sans Bold"/>
                <a:cs typeface="Canva Sans Bold"/>
                <a:sym typeface="Canva Sans Bold"/>
              </a:rPr>
              <a:t>Team Members:</a:t>
            </a:r>
          </a:p>
        </p:txBody>
      </p:sp>
      <p:sp>
        <p:nvSpPr>
          <p:cNvPr name="TextBox 13" id="13"/>
          <p:cNvSpPr txBox="true"/>
          <p:nvPr/>
        </p:nvSpPr>
        <p:spPr>
          <a:xfrm rot="0">
            <a:off x="1263577" y="9109243"/>
            <a:ext cx="2359904" cy="492128"/>
          </a:xfrm>
          <a:prstGeom prst="rect">
            <a:avLst/>
          </a:prstGeom>
        </p:spPr>
        <p:txBody>
          <a:bodyPr anchor="t" rtlCol="false" tIns="0" lIns="0" bIns="0" rIns="0">
            <a:spAutoFit/>
          </a:bodyPr>
          <a:lstStyle/>
          <a:p>
            <a:pPr algn="ctr">
              <a:lnSpc>
                <a:spcPts val="2800"/>
              </a:lnSpc>
            </a:pPr>
            <a:r>
              <a:rPr lang="en-US" sz="2000" b="true">
                <a:solidFill>
                  <a:srgbClr val="000000"/>
                </a:solidFill>
                <a:latin typeface="Canva Sans Bold"/>
                <a:ea typeface="Canva Sans Bold"/>
                <a:cs typeface="Canva Sans Bold"/>
                <a:sym typeface="Canva Sans Bold"/>
              </a:rPr>
              <a:t>Project Title:</a:t>
            </a:r>
          </a:p>
        </p:txBody>
      </p:sp>
      <p:sp>
        <p:nvSpPr>
          <p:cNvPr name="TextBox 14" id="14"/>
          <p:cNvSpPr txBox="true"/>
          <p:nvPr/>
        </p:nvSpPr>
        <p:spPr>
          <a:xfrm rot="0">
            <a:off x="1028700" y="9470555"/>
            <a:ext cx="3865502" cy="492128"/>
          </a:xfrm>
          <a:prstGeom prst="rect">
            <a:avLst/>
          </a:prstGeom>
        </p:spPr>
        <p:txBody>
          <a:bodyPr anchor="t" rtlCol="false" tIns="0" lIns="0" bIns="0" rIns="0">
            <a:spAutoFit/>
          </a:bodyPr>
          <a:lstStyle/>
          <a:p>
            <a:pPr algn="ctr">
              <a:lnSpc>
                <a:spcPts val="2800"/>
              </a:lnSpc>
            </a:pPr>
            <a:r>
              <a:rPr lang="en-US" sz="2000" b="true">
                <a:solidFill>
                  <a:srgbClr val="000000"/>
                </a:solidFill>
                <a:latin typeface="Canva Sans Bold"/>
                <a:ea typeface="Canva Sans Bold"/>
                <a:cs typeface="Canva Sans Bold"/>
                <a:sym typeface="Canva Sans Bold"/>
              </a:rPr>
              <a:t>Problem Description:</a:t>
            </a:r>
          </a:p>
        </p:txBody>
      </p:sp>
      <p:sp>
        <p:nvSpPr>
          <p:cNvPr name="TextBox 15" id="15"/>
          <p:cNvSpPr txBox="true"/>
          <p:nvPr/>
        </p:nvSpPr>
        <p:spPr>
          <a:xfrm rot="0">
            <a:off x="3117599" y="9128293"/>
            <a:ext cx="5293890" cy="361312"/>
          </a:xfrm>
          <a:prstGeom prst="rect">
            <a:avLst/>
          </a:prstGeom>
        </p:spPr>
        <p:txBody>
          <a:bodyPr anchor="t" rtlCol="false" tIns="0" lIns="0" bIns="0" rIns="0">
            <a:spAutoFit/>
          </a:bodyPr>
          <a:lstStyle/>
          <a:p>
            <a:pPr algn="ctr">
              <a:lnSpc>
                <a:spcPts val="2660"/>
              </a:lnSpc>
            </a:pPr>
            <a:r>
              <a:rPr lang="en-US" sz="1900" b="true">
                <a:solidFill>
                  <a:srgbClr val="000000"/>
                </a:solidFill>
                <a:latin typeface="Canva Sans Bold"/>
                <a:ea typeface="Canva Sans Bold"/>
                <a:cs typeface="Canva Sans Bold"/>
                <a:sym typeface="Canva Sans Bold"/>
              </a:rPr>
              <a:t>FLOOD PREDICTION AND ALERT SYSTEM</a:t>
            </a:r>
          </a:p>
        </p:txBody>
      </p:sp>
      <p:sp>
        <p:nvSpPr>
          <p:cNvPr name="TextBox 16" id="16"/>
          <p:cNvSpPr txBox="true"/>
          <p:nvPr/>
        </p:nvSpPr>
        <p:spPr>
          <a:xfrm rot="0">
            <a:off x="1718596" y="6904044"/>
            <a:ext cx="4045953" cy="2197735"/>
          </a:xfrm>
          <a:prstGeom prst="rect">
            <a:avLst/>
          </a:prstGeom>
        </p:spPr>
        <p:txBody>
          <a:bodyPr anchor="t" rtlCol="false" tIns="0" lIns="0" bIns="0" rIns="0">
            <a:spAutoFit/>
          </a:bodyPr>
          <a:lstStyle/>
          <a:p>
            <a:pPr algn="l">
              <a:lnSpc>
                <a:spcPts val="2240"/>
              </a:lnSpc>
            </a:pPr>
            <a:r>
              <a:rPr lang="en-US" sz="1600" b="true">
                <a:solidFill>
                  <a:srgbClr val="000000"/>
                </a:solidFill>
                <a:latin typeface="Canva Sans Bold"/>
                <a:ea typeface="Canva Sans Bold"/>
                <a:cs typeface="Canva Sans Bold"/>
                <a:sym typeface="Canva Sans Bold"/>
              </a:rPr>
              <a:t>RAGUL R-25UAD227</a:t>
            </a:r>
          </a:p>
          <a:p>
            <a:pPr algn="l">
              <a:lnSpc>
                <a:spcPts val="2240"/>
              </a:lnSpc>
            </a:pPr>
            <a:r>
              <a:rPr lang="en-US" sz="1600" b="true">
                <a:solidFill>
                  <a:srgbClr val="000000"/>
                </a:solidFill>
                <a:latin typeface="Canva Sans Bold"/>
                <a:ea typeface="Canva Sans Bold"/>
                <a:cs typeface="Canva Sans Bold"/>
                <a:sym typeface="Canva Sans Bold"/>
              </a:rPr>
              <a:t>SHALINI B-25UAD238</a:t>
            </a:r>
          </a:p>
          <a:p>
            <a:pPr algn="l">
              <a:lnSpc>
                <a:spcPts val="2240"/>
              </a:lnSpc>
            </a:pPr>
            <a:r>
              <a:rPr lang="en-US" sz="1600" b="true">
                <a:solidFill>
                  <a:srgbClr val="000000"/>
                </a:solidFill>
                <a:latin typeface="Canva Sans Bold"/>
                <a:ea typeface="Canva Sans Bold"/>
                <a:cs typeface="Canva Sans Bold"/>
                <a:sym typeface="Canva Sans Bold"/>
              </a:rPr>
              <a:t>SHANJEETHA N-25UAD239</a:t>
            </a:r>
          </a:p>
          <a:p>
            <a:pPr algn="l">
              <a:lnSpc>
                <a:spcPts val="2240"/>
              </a:lnSpc>
            </a:pPr>
            <a:r>
              <a:rPr lang="en-US" sz="1600" b="true">
                <a:solidFill>
                  <a:srgbClr val="000000"/>
                </a:solidFill>
                <a:latin typeface="Canva Sans Bold"/>
                <a:ea typeface="Canva Sans Bold"/>
                <a:cs typeface="Canva Sans Bold"/>
                <a:sym typeface="Canva Sans Bold"/>
              </a:rPr>
              <a:t>MADHUMITHA M-25UIT157</a:t>
            </a:r>
          </a:p>
          <a:p>
            <a:pPr algn="l">
              <a:lnSpc>
                <a:spcPts val="2240"/>
              </a:lnSpc>
            </a:pPr>
            <a:r>
              <a:rPr lang="en-US" sz="1600" b="true">
                <a:solidFill>
                  <a:srgbClr val="000000"/>
                </a:solidFill>
                <a:latin typeface="Canva Sans Bold"/>
                <a:ea typeface="Canva Sans Bold"/>
                <a:cs typeface="Canva Sans Bold"/>
                <a:sym typeface="Canva Sans Bold"/>
              </a:rPr>
              <a:t>PRIYANKA M-25UCS208</a:t>
            </a:r>
          </a:p>
          <a:p>
            <a:pPr algn="l">
              <a:lnSpc>
                <a:spcPts val="2240"/>
              </a:lnSpc>
            </a:pPr>
            <a:r>
              <a:rPr lang="en-US" sz="1600" b="true">
                <a:solidFill>
                  <a:srgbClr val="000000"/>
                </a:solidFill>
                <a:latin typeface="Canva Sans Bold"/>
                <a:ea typeface="Canva Sans Bold"/>
                <a:cs typeface="Canva Sans Bold"/>
                <a:sym typeface="Canva Sans Bold"/>
              </a:rPr>
              <a:t>DEEPAN S-25UME111</a:t>
            </a:r>
          </a:p>
          <a:p>
            <a:pPr algn="l">
              <a:lnSpc>
                <a:spcPts val="2240"/>
              </a:lnSpc>
            </a:pPr>
          </a:p>
          <a:p>
            <a:pPr algn="l">
              <a:lnSpc>
                <a:spcPts val="2240"/>
              </a:lnSpc>
            </a:pPr>
          </a:p>
        </p:txBody>
      </p:sp>
      <p:sp>
        <p:nvSpPr>
          <p:cNvPr name="TextBox 17" id="17"/>
          <p:cNvSpPr txBox="true"/>
          <p:nvPr/>
        </p:nvSpPr>
        <p:spPr>
          <a:xfrm rot="0">
            <a:off x="1718596" y="9963445"/>
            <a:ext cx="7539704" cy="2571979"/>
          </a:xfrm>
          <a:prstGeom prst="rect">
            <a:avLst/>
          </a:prstGeom>
        </p:spPr>
        <p:txBody>
          <a:bodyPr anchor="t" rtlCol="false" tIns="0" lIns="0" bIns="0" rIns="0">
            <a:spAutoFit/>
          </a:bodyPr>
          <a:lstStyle/>
          <a:p>
            <a:pPr algn="l">
              <a:lnSpc>
                <a:spcPts val="1701"/>
              </a:lnSpc>
            </a:pPr>
            <a:r>
              <a:rPr lang="en-US" sz="1214" b="true">
                <a:solidFill>
                  <a:srgbClr val="000000"/>
                </a:solidFill>
                <a:latin typeface="Canva Sans Bold"/>
                <a:ea typeface="Canva Sans Bold"/>
                <a:cs typeface="Canva Sans Bold"/>
                <a:sym typeface="Canva Sans Bold"/>
              </a:rPr>
              <a:t>Floods can cause significant damage to life and property and many traditional monitoring systems fail to provide early warnings. The proposed Flood Prediction and Alert System helps address this issue by predicting flood risks using hydrological and hydraulic modelling techniques. The hydrology model, based on the SCS Curve Number method, estimates surface runoff and river discharge using rainfall data and soil conditions. The hydraulic model uses Manning’s equation to simulate river flow and determine water depth. By comparing the predicted water level with the river’s danger level, the system identifies possible flood risks and generates alerts.The system also uses rainfall scenarios and real-time data to generate flood hazard maps and provide early warning notifications. It can estimate the possible impact of flooding on buildings, roads, and nearby locations, helping authorities and communities understand the level of risk. In addition, it displays flood-prone areas and safe evacuation routes, supporting better emergency planning, disaster management, and insurance risk assessment.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DAHD8b5QJjc</dc:identifier>
  <dcterms:modified xsi:type="dcterms:W3CDTF">2011-08-01T06:04:30Z</dcterms:modified>
  <cp:revision>1</cp:revision>
  <dc:title>Team_Summary.pptx</dc:title>
</cp:coreProperties>
</file>